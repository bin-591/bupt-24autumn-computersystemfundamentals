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notesMasterIdLst>
    <p:notesMasterId r:id="rId57"/>
  </p:notesMasterIdLst>
  <p:handoutMasterIdLst>
    <p:handoutMasterId r:id="rId58"/>
  </p:handoutMasterIdLst>
  <p:sldIdLst>
    <p:sldId id="689" r:id="rId3"/>
    <p:sldId id="542" r:id="rId4"/>
    <p:sldId id="645" r:id="rId5"/>
    <p:sldId id="580" r:id="rId6"/>
    <p:sldId id="581" r:id="rId7"/>
    <p:sldId id="582" r:id="rId8"/>
    <p:sldId id="690" r:id="rId9"/>
    <p:sldId id="662" r:id="rId10"/>
    <p:sldId id="584" r:id="rId11"/>
    <p:sldId id="585" r:id="rId12"/>
    <p:sldId id="586" r:id="rId13"/>
    <p:sldId id="646" r:id="rId14"/>
    <p:sldId id="680" r:id="rId15"/>
    <p:sldId id="692" r:id="rId16"/>
    <p:sldId id="661" r:id="rId17"/>
    <p:sldId id="693" r:id="rId18"/>
    <p:sldId id="651" r:id="rId19"/>
    <p:sldId id="639" r:id="rId20"/>
    <p:sldId id="694" r:id="rId21"/>
    <p:sldId id="649" r:id="rId22"/>
    <p:sldId id="597" r:id="rId23"/>
    <p:sldId id="598" r:id="rId24"/>
    <p:sldId id="682" r:id="rId25"/>
    <p:sldId id="599" r:id="rId26"/>
    <p:sldId id="601" r:id="rId27"/>
    <p:sldId id="602" r:id="rId28"/>
    <p:sldId id="663" r:id="rId29"/>
    <p:sldId id="664" r:id="rId30"/>
    <p:sldId id="665" r:id="rId31"/>
    <p:sldId id="666" r:id="rId32"/>
    <p:sldId id="667" r:id="rId33"/>
    <p:sldId id="668" r:id="rId34"/>
    <p:sldId id="695" r:id="rId35"/>
    <p:sldId id="669" r:id="rId36"/>
    <p:sldId id="678" r:id="rId37"/>
    <p:sldId id="670" r:id="rId38"/>
    <p:sldId id="672" r:id="rId39"/>
    <p:sldId id="673" r:id="rId40"/>
    <p:sldId id="674" r:id="rId41"/>
    <p:sldId id="679" r:id="rId42"/>
    <p:sldId id="647" r:id="rId43"/>
    <p:sldId id="588" r:id="rId44"/>
    <p:sldId id="589" r:id="rId45"/>
    <p:sldId id="685" r:id="rId46"/>
    <p:sldId id="686" r:id="rId47"/>
    <p:sldId id="696" r:id="rId48"/>
    <p:sldId id="637" r:id="rId49"/>
    <p:sldId id="591" r:id="rId50"/>
    <p:sldId id="592" r:id="rId51"/>
    <p:sldId id="593" r:id="rId52"/>
    <p:sldId id="687" r:id="rId53"/>
    <p:sldId id="594" r:id="rId54"/>
    <p:sldId id="595" r:id="rId55"/>
    <p:sldId id="659" r:id="rId56"/>
  </p:sldIdLst>
  <p:sldSz cx="9144000" cy="6858000" type="screen4x3"/>
  <p:notesSz cx="7302500" cy="9586913"/>
  <p:custDataLst>
    <p:tags r:id="rId5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A93CAE-8A8F-4D76-B8E9-FFF2B8B0FAD4}">
          <p14:sldIdLst>
            <p14:sldId id="689"/>
            <p14:sldId id="542"/>
            <p14:sldId id="645"/>
            <p14:sldId id="580"/>
            <p14:sldId id="581"/>
            <p14:sldId id="582"/>
            <p14:sldId id="690"/>
            <p14:sldId id="662"/>
            <p14:sldId id="584"/>
            <p14:sldId id="585"/>
            <p14:sldId id="586"/>
            <p14:sldId id="646"/>
            <p14:sldId id="680"/>
            <p14:sldId id="692"/>
            <p14:sldId id="661"/>
            <p14:sldId id="693"/>
            <p14:sldId id="651"/>
            <p14:sldId id="639"/>
            <p14:sldId id="694"/>
            <p14:sldId id="649"/>
            <p14:sldId id="597"/>
            <p14:sldId id="598"/>
            <p14:sldId id="682"/>
            <p14:sldId id="599"/>
            <p14:sldId id="601"/>
            <p14:sldId id="602"/>
            <p14:sldId id="663"/>
            <p14:sldId id="664"/>
            <p14:sldId id="665"/>
            <p14:sldId id="666"/>
            <p14:sldId id="667"/>
            <p14:sldId id="668"/>
            <p14:sldId id="695"/>
            <p14:sldId id="669"/>
            <p14:sldId id="678"/>
            <p14:sldId id="670"/>
            <p14:sldId id="672"/>
            <p14:sldId id="673"/>
            <p14:sldId id="674"/>
            <p14:sldId id="679"/>
            <p14:sldId id="647"/>
            <p14:sldId id="588"/>
            <p14:sldId id="589"/>
            <p14:sldId id="685"/>
            <p14:sldId id="686"/>
            <p14:sldId id="696"/>
            <p14:sldId id="637"/>
            <p14:sldId id="591"/>
            <p14:sldId id="592"/>
            <p14:sldId id="593"/>
            <p14:sldId id="687"/>
            <p14:sldId id="594"/>
            <p14:sldId id="595"/>
            <p14:sldId id="6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4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FBF"/>
    <a:srgbClr val="F6F5BD"/>
    <a:srgbClr val="CC6600"/>
    <a:srgbClr val="FF9999"/>
    <a:srgbClr val="A8E799"/>
    <a:srgbClr val="FFFF99"/>
    <a:srgbClr val="CDF1C5"/>
    <a:srgbClr val="F1C7C7"/>
    <a:srgbClr val="C5FEB8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127" autoAdjust="0"/>
    <p:restoredTop sz="91226" autoAdjust="0"/>
  </p:normalViewPr>
  <p:slideViewPr>
    <p:cSldViewPr snapToGrid="0" snapToObjects="1">
      <p:cViewPr varScale="1">
        <p:scale>
          <a:sx n="112" d="100"/>
          <a:sy n="112" d="100"/>
        </p:scale>
        <p:origin x="2286" y="96"/>
      </p:cViewPr>
      <p:guideLst>
        <p:guide orient="horz" pos="254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8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428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03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Intel Felt Obligated to Focus on IA64-</a:t>
            </a:r>
            <a:r>
              <a:rPr lang="zh-CN" altLang="en-US" dirty="0" smtClean="0"/>
              <a:t>英特尔感到有责任专注于</a:t>
            </a:r>
            <a:r>
              <a:rPr lang="en-US" altLang="zh-CN" dirty="0" smtClean="0"/>
              <a:t>IA64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8B12C5-B8B1-41C6-B29F-6FC9FEB127A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41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72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Obsolete-</a:t>
            </a:r>
            <a:r>
              <a:rPr lang="zh-CN" altLang="en-US" dirty="0" smtClean="0"/>
              <a:t>废弃的；老式的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17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Pointer dereferencing</a:t>
            </a:r>
            <a:r>
              <a:rPr lang="zh-CN" altLang="en-US" dirty="0" smtClean="0"/>
              <a:t>：指针的间接引用</a:t>
            </a:r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866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</a:t>
            </a:r>
            <a:r>
              <a:rPr lang="en-US" baseline="0" dirty="0" smtClean="0"/>
              <a:t>0x1</a:t>
            </a:r>
            <a:r>
              <a:rPr lang="en-US" altLang="zh-CN" baseline="0" dirty="0" smtClean="0"/>
              <a:t>e</a:t>
            </a:r>
            <a:r>
              <a:rPr lang="en-US" baseline="0" dirty="0" smtClean="0"/>
              <a:t>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Lea-load effective address</a:t>
            </a:r>
          </a:p>
          <a:p>
            <a:r>
              <a:rPr lang="en-US" altLang="zh-CN" dirty="0" smtClean="0"/>
              <a:t>Computing addresses without a memory reference-</a:t>
            </a:r>
            <a:r>
              <a:rPr lang="zh-CN" altLang="en-US" dirty="0" smtClean="0"/>
              <a:t>计算地址，但没有引用内存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081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840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48779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154742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762932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99983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799203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46929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68804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479725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7760716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6784194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594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035143" y="67249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4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</p:spTree>
    <p:extLst>
      <p:ext uri="{BB962C8B-B14F-4D97-AF65-F5344CB8AC3E}">
        <p14:creationId xmlns:p14="http://schemas.microsoft.com/office/powerpoint/2010/main" val="128340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2" y="1295400"/>
            <a:ext cx="9093416" cy="4724400"/>
          </a:xfrm>
        </p:spPr>
      </p:pic>
    </p:spTree>
    <p:extLst>
      <p:ext uri="{BB962C8B-B14F-4D97-AF65-F5344CB8AC3E}">
        <p14:creationId xmlns:p14="http://schemas.microsoft.com/office/powerpoint/2010/main" val="183621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720850"/>
          </a:xfrm>
        </p:spPr>
        <p:txBody>
          <a:bodyPr/>
          <a:lstStyle/>
          <a:p>
            <a:pPr marL="0" indent="0"/>
            <a:r>
              <a:rPr lang="en-US" dirty="0"/>
              <a:t>Machine-Level Programming I: Basics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2000" b="0" dirty="0"/>
              <a:t>15-213/18-213/15-213</a:t>
            </a:r>
            <a:r>
              <a:rPr lang="en-US" sz="2000" b="0" dirty="0">
                <a:solidFill>
                  <a:srgbClr val="000000"/>
                </a:solidFill>
                <a:latin typeface="Calibri" charset="0"/>
                <a:sym typeface="Calibri" charset="0"/>
              </a:rPr>
              <a:t>:</a:t>
            </a:r>
            <a:r>
              <a:rPr lang="en-US" sz="2000" b="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Introduction to Computer Systems </a:t>
            </a:r>
            <a:r>
              <a:rPr lang="en-US" sz="2000" b="0" dirty="0"/>
              <a:t/>
            </a:r>
            <a:br>
              <a:rPr lang="en-US" sz="2000" b="0" dirty="0"/>
            </a:br>
            <a:r>
              <a:rPr lang="en-US" sz="2000" b="0" dirty="0"/>
              <a:t>5</a:t>
            </a:r>
            <a:r>
              <a:rPr lang="en-US" sz="2000" b="0" baseline="30000" dirty="0"/>
              <a:t>th</a:t>
            </a:r>
            <a:r>
              <a:rPr lang="en-US" sz="2000" b="0" dirty="0"/>
              <a:t> Lecture, September 12, 2017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spcBef>
                <a:spcPct val="0"/>
              </a:spcBef>
              <a:buClrTx/>
              <a:buSzTx/>
              <a:defRPr/>
            </a:pPr>
            <a:r>
              <a:rPr lang="en-US" b="1" dirty="0">
                <a:solidFill>
                  <a:srgbClr val="000000"/>
                </a:solidFill>
                <a:latin typeface="Calibri"/>
                <a:ea typeface="Calibri Bold" charset="0"/>
                <a:cs typeface="Calibri"/>
                <a:sym typeface="Calibri Bold" charset="0"/>
              </a:rPr>
              <a:t>Today’s Instructor:</a:t>
            </a:r>
            <a:r>
              <a:rPr lang="en-US" b="1" dirty="0">
                <a:solidFill>
                  <a:srgbClr val="000000"/>
                </a:solidFill>
                <a:latin typeface="Calibri"/>
                <a:cs typeface="Calibri"/>
                <a:sym typeface="Calibri" charset="0"/>
              </a:rPr>
              <a:t> </a:t>
            </a:r>
          </a:p>
          <a:p>
            <a:pPr lvl="0">
              <a:spcBef>
                <a:spcPts val="500"/>
              </a:spcBef>
              <a:buClrTx/>
              <a:buSzTx/>
              <a:defRPr/>
            </a:pPr>
            <a:r>
              <a:rPr lang="en-US" dirty="0"/>
              <a:t>Phil Gibbons</a:t>
            </a:r>
            <a:endParaRPr lang="en-US" dirty="0">
              <a:solidFill>
                <a:srgbClr val="000000"/>
              </a:solidFill>
              <a:latin typeface="Calibri"/>
              <a:cs typeface="Calibri"/>
              <a:sym typeface="Calibri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/>
        </p:spPr>
        <p:txBody>
          <a:bodyPr/>
          <a:lstStyle/>
          <a:p>
            <a:r>
              <a:rPr lang="en-US" dirty="0"/>
              <a:t>Intel x86 Processors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62075"/>
            <a:ext cx="7896225" cy="4972050"/>
          </a:xfrm>
          <a:noFill/>
          <a:ln/>
        </p:spPr>
        <p:txBody>
          <a:bodyPr lIns="90487" tIns="44450" rIns="90487" bIns="44450"/>
          <a:lstStyle/>
          <a:p>
            <a:r>
              <a:rPr lang="en-US" dirty="0"/>
              <a:t>Dominate laptop/desktop/server market</a:t>
            </a:r>
          </a:p>
          <a:p>
            <a:endParaRPr lang="en-US" dirty="0"/>
          </a:p>
          <a:p>
            <a:r>
              <a:rPr lang="en-US" dirty="0"/>
              <a:t>Evolutionary design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Backwards compatible </a:t>
            </a:r>
            <a:r>
              <a:rPr lang="en-US" dirty="0"/>
              <a:t>up until 8086, introduced in 1978</a:t>
            </a:r>
          </a:p>
          <a:p>
            <a:pPr lvl="1"/>
            <a:r>
              <a:rPr lang="en-US" dirty="0"/>
              <a:t>Added more features as time goes on</a:t>
            </a:r>
          </a:p>
          <a:p>
            <a:endParaRPr lang="en-US" dirty="0"/>
          </a:p>
          <a:p>
            <a:r>
              <a:rPr lang="en-US" dirty="0"/>
              <a:t>Complex instruction set computer (CISC)</a:t>
            </a:r>
          </a:p>
          <a:p>
            <a:pPr lvl="1"/>
            <a:r>
              <a:rPr lang="en-US" dirty="0"/>
              <a:t>Many different instructions with many different formats</a:t>
            </a:r>
          </a:p>
          <a:p>
            <a:pPr lvl="2"/>
            <a:r>
              <a:rPr lang="en-US" dirty="0"/>
              <a:t>But, only small subset encountered with Linux programs</a:t>
            </a:r>
          </a:p>
          <a:p>
            <a:pPr lvl="1"/>
            <a:r>
              <a:rPr lang="en-US" dirty="0"/>
              <a:t>Hard to match performance of Reduced Instruction Set Computers (RISC)</a:t>
            </a:r>
          </a:p>
          <a:p>
            <a:pPr lvl="1"/>
            <a:r>
              <a:rPr lang="en-US" dirty="0"/>
              <a:t>But, Intel has done just that!</a:t>
            </a:r>
          </a:p>
          <a:p>
            <a:pPr lvl="2"/>
            <a:r>
              <a:rPr lang="en-US" dirty="0"/>
              <a:t>In terms of speed.  Less so for low power.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2"/>
            <a:ext cx="8229600" cy="573088"/>
          </a:xfrm>
        </p:spPr>
        <p:txBody>
          <a:bodyPr/>
          <a:lstStyle/>
          <a:p>
            <a:r>
              <a:rPr lang="en-US" dirty="0"/>
              <a:t>Intel x86 Evolution: Milestones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7924800" cy="5105400"/>
          </a:xfrm>
        </p:spPr>
        <p:txBody>
          <a:bodyPr/>
          <a:lstStyle/>
          <a:p>
            <a:pPr marL="223838" indent="-223838" defTabSz="895350">
              <a:buNone/>
              <a:tabLst>
                <a:tab pos="2055813" algn="l"/>
                <a:tab pos="3884613" algn="l"/>
                <a:tab pos="5946775" algn="l"/>
              </a:tabLst>
            </a:pPr>
            <a:r>
              <a:rPr lang="en-US" i="1" dirty="0">
                <a:solidFill>
                  <a:srgbClr val="C00000"/>
                </a:solidFill>
              </a:rPr>
              <a:t>	Name	Date	Transistors	MHz</a:t>
            </a:r>
          </a:p>
          <a:p>
            <a:pPr marL="223838" indent="-223838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8086	1978	29K	5-10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16-bit Intel processor.  Basis for IBM PC &amp; DOS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1MB address space</a:t>
            </a:r>
          </a:p>
          <a:p>
            <a:pPr marL="223838" indent="-223838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386	1985	275K	16-33	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32 bit Intel processor , referred to as IA32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Added “flat addressing”, capable of running Unix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Pentium 4E	2004	125M	2800-3800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64-bit Intel x86 processor, referred to as x86-64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Core 2	2006	291M	1060-3333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multi-core Intel processor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Core i7	2008	731M	1600-4400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Four cores (our shark machines)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3088"/>
          </a:xfrm>
        </p:spPr>
        <p:txBody>
          <a:bodyPr/>
          <a:lstStyle/>
          <a:p>
            <a:r>
              <a:rPr lang="en-US" dirty="0"/>
              <a:t>Intel x86 Processors, cont.</a:t>
            </a: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998757"/>
            <a:ext cx="7896225" cy="4972050"/>
          </a:xfrm>
        </p:spPr>
        <p:txBody>
          <a:bodyPr/>
          <a:lstStyle/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Machine Evolution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386	1985	0.3M	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	1993	3.1M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Pentium/MMX	1997	4.5M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 err="1"/>
              <a:t>PentiumPro</a:t>
            </a:r>
            <a:r>
              <a:rPr lang="en-US" dirty="0"/>
              <a:t>	1995	6.5M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 III	1999	8.2M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 4	2000	42M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2 Duo	2006	291M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i7	2008	731M</a:t>
            </a:r>
          </a:p>
          <a:p>
            <a:pPr marL="223838" indent="-223838" defTabSz="895350">
              <a:tabLst>
                <a:tab pos="2349500" algn="l"/>
              </a:tabLst>
            </a:pPr>
            <a:endParaRPr lang="en-US" sz="1600" dirty="0"/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Added Features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Instructions to support </a:t>
            </a:r>
            <a:r>
              <a:rPr lang="en-US" dirty="0">
                <a:solidFill>
                  <a:srgbClr val="FF0000"/>
                </a:solidFill>
              </a:rPr>
              <a:t>multimedia</a:t>
            </a:r>
            <a:r>
              <a:rPr lang="en-US" dirty="0"/>
              <a:t> operations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Instructions to enable </a:t>
            </a:r>
            <a:r>
              <a:rPr lang="en-US" dirty="0">
                <a:solidFill>
                  <a:srgbClr val="FF0000"/>
                </a:solidFill>
              </a:rPr>
              <a:t>more efficient conditional </a:t>
            </a:r>
            <a:r>
              <a:rPr lang="en-US" dirty="0"/>
              <a:t>operations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Transition from 32 bits to 64 bits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More cores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1185" y="1305906"/>
            <a:ext cx="42481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3088"/>
          </a:xfrm>
        </p:spPr>
        <p:txBody>
          <a:bodyPr/>
          <a:lstStyle/>
          <a:p>
            <a:r>
              <a:rPr lang="en-US" dirty="0"/>
              <a:t>Intel x86 Processors, cont.</a:t>
            </a: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877888"/>
            <a:ext cx="7896225" cy="4972050"/>
          </a:xfrm>
        </p:spPr>
        <p:txBody>
          <a:bodyPr/>
          <a:lstStyle/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Past Generations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Pentium Pro	1995	600 nm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Pentium III	1999	250 nm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Pentium 4	2000	180 nm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Core 2 Duo	2006	  65 nm</a:t>
            </a:r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Recent &amp; Upcoming Generations</a:t>
            </a:r>
          </a:p>
          <a:p>
            <a:pPr marL="795338" lvl="1" indent="-457200" defTabSz="895350">
              <a:buFont typeface="+mj-lt"/>
              <a:buAutoNum type="arabicPeriod"/>
              <a:tabLst>
                <a:tab pos="2349500" algn="l"/>
              </a:tabLst>
            </a:pPr>
            <a:r>
              <a:rPr lang="en-US" dirty="0"/>
              <a:t>Nehalem	2008	  45 nm	</a:t>
            </a:r>
          </a:p>
          <a:p>
            <a:pPr marL="795338" lvl="1" indent="-457200" defTabSz="895350">
              <a:buFont typeface="+mj-lt"/>
              <a:buAutoNum type="arabicPeriod"/>
              <a:tabLst>
                <a:tab pos="2349500" algn="l"/>
              </a:tabLst>
            </a:pPr>
            <a:r>
              <a:rPr lang="en-US" dirty="0"/>
              <a:t>Sandy Bridge	2011	  32 nm</a:t>
            </a:r>
          </a:p>
          <a:p>
            <a:pPr marL="795338" lvl="1" indent="-457200" defTabSz="895350">
              <a:buFont typeface="+mj-lt"/>
              <a:buAutoNum type="arabicPeriod"/>
              <a:tabLst>
                <a:tab pos="2349500" algn="l"/>
              </a:tabLst>
            </a:pPr>
            <a:r>
              <a:rPr lang="en-US" dirty="0"/>
              <a:t>Ivy Bridge	2012	  22 nm</a:t>
            </a:r>
          </a:p>
          <a:p>
            <a:pPr marL="795338" lvl="1" indent="-457200" defTabSz="895350">
              <a:buFont typeface="+mj-lt"/>
              <a:buAutoNum type="arabicPeriod"/>
              <a:tabLst>
                <a:tab pos="2349500" algn="l"/>
              </a:tabLst>
            </a:pPr>
            <a:r>
              <a:rPr lang="en-US" dirty="0"/>
              <a:t>Haswell	2013	  22 nm</a:t>
            </a:r>
          </a:p>
          <a:p>
            <a:pPr marL="795338" lvl="1" indent="-457200" defTabSz="895350">
              <a:buFont typeface="+mj-lt"/>
              <a:buAutoNum type="arabicPeriod"/>
              <a:tabLst>
                <a:tab pos="2349500" algn="l"/>
              </a:tabLst>
            </a:pPr>
            <a:r>
              <a:rPr lang="en-US" dirty="0"/>
              <a:t>Broadwell	2014	  14 nm</a:t>
            </a:r>
          </a:p>
          <a:p>
            <a:pPr marL="795338" lvl="1" indent="-457200" defTabSz="895350">
              <a:buFont typeface="+mj-lt"/>
              <a:buAutoNum type="arabicPeriod"/>
              <a:tabLst>
                <a:tab pos="2349500" algn="l"/>
              </a:tabLst>
            </a:pPr>
            <a:r>
              <a:rPr lang="en-US" dirty="0" err="1"/>
              <a:t>Skylake</a:t>
            </a:r>
            <a:r>
              <a:rPr lang="en-US" dirty="0"/>
              <a:t>	2015	  14 nm</a:t>
            </a:r>
          </a:p>
          <a:p>
            <a:pPr marL="795338" lvl="1" indent="-457200" defTabSz="895350">
              <a:buFont typeface="+mj-lt"/>
              <a:buAutoNum type="arabicPeriod"/>
              <a:tabLst>
                <a:tab pos="2349500" algn="l"/>
              </a:tabLst>
            </a:pPr>
            <a:r>
              <a:rPr lang="en-US" dirty="0" err="1"/>
              <a:t>Kaby</a:t>
            </a:r>
            <a:r>
              <a:rPr lang="en-US" dirty="0"/>
              <a:t> Lake	2016	  14 nm</a:t>
            </a:r>
          </a:p>
          <a:p>
            <a:pPr marL="681038" lvl="1" indent="-342900" defTabSz="895350">
              <a:tabLst>
                <a:tab pos="2349500" algn="l"/>
              </a:tabLst>
            </a:pPr>
            <a:r>
              <a:rPr lang="en-US" dirty="0"/>
              <a:t>Coffee Lake	2017?	  14 nm</a:t>
            </a:r>
          </a:p>
          <a:p>
            <a:pPr marL="681038" lvl="1" indent="-342900" defTabSz="895350">
              <a:tabLst>
                <a:tab pos="2349500" algn="l"/>
              </a:tabLst>
            </a:pPr>
            <a:r>
              <a:rPr lang="en-US" dirty="0" err="1"/>
              <a:t>Cannonlake</a:t>
            </a:r>
            <a:r>
              <a:rPr lang="en-US" dirty="0"/>
              <a:t>	2018?	  10 nm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64769" y="956441"/>
            <a:ext cx="201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Process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5496" y="2438454"/>
            <a:ext cx="31205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Process technology dimension 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= width of narrowest wires 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(10 nm ≈ 100 atoms wide)</a:t>
            </a:r>
          </a:p>
        </p:txBody>
      </p:sp>
    </p:spTree>
    <p:extLst>
      <p:ext uri="{BB962C8B-B14F-4D97-AF65-F5344CB8AC3E}">
        <p14:creationId xmlns:p14="http://schemas.microsoft.com/office/powerpoint/2010/main" val="27356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3088"/>
          </a:xfrm>
        </p:spPr>
        <p:txBody>
          <a:bodyPr/>
          <a:lstStyle/>
          <a:p>
            <a:r>
              <a:rPr lang="en-US" dirty="0"/>
              <a:t>2017 State of the Art: Skylake</a:t>
            </a: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1135392"/>
            <a:ext cx="7896225" cy="4972050"/>
          </a:xfrm>
        </p:spPr>
        <p:txBody>
          <a:bodyPr/>
          <a:lstStyle/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Mobile Model: Core i7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2.6-2.9 GHz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45 W</a:t>
            </a:r>
          </a:p>
          <a:p>
            <a:pPr marL="623888" lvl="1" indent="-223838" defTabSz="895350">
              <a:tabLst>
                <a:tab pos="2349500" algn="l"/>
              </a:tabLst>
            </a:pPr>
            <a:endParaRPr lang="en-US" dirty="0"/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Desktop Model: Core i7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Integrated graphics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2.8-4.0 GHz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35-91 W</a:t>
            </a:r>
          </a:p>
          <a:p>
            <a:pPr marL="623888" lvl="1" indent="-223838" defTabSz="895350">
              <a:tabLst>
                <a:tab pos="2349500" algn="l"/>
              </a:tabLst>
            </a:pPr>
            <a:endParaRPr lang="en-US" dirty="0"/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Server Model: Xeon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Integrated graphics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Multi-socket enabled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2-3.7 GHz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25-80 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007" y="1707551"/>
            <a:ext cx="5282379" cy="371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37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597796" cy="762000"/>
          </a:xfrm>
        </p:spPr>
        <p:txBody>
          <a:bodyPr/>
          <a:lstStyle/>
          <a:p>
            <a:r>
              <a:rPr lang="en-US" dirty="0"/>
              <a:t>x86 Clones: Advanced Micro Devices (AMD)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60338" indent="-222250" defTabSz="895350">
              <a:tabLst>
                <a:tab pos="2349500" algn="l"/>
              </a:tabLst>
            </a:pPr>
            <a:r>
              <a:rPr lang="en-US" dirty="0"/>
              <a:t>Historically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AMD has followed just behind Intel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 little bit slower, a lot cheaper</a:t>
            </a:r>
          </a:p>
          <a:p>
            <a:pPr marL="160338" indent="-222250" defTabSz="895350">
              <a:tabLst>
                <a:tab pos="2349500" algn="l"/>
              </a:tabLst>
            </a:pPr>
            <a:r>
              <a:rPr lang="en-US" dirty="0"/>
              <a:t>Then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Recruited top circuit designers from Digital Equipment Corp. and other downward trending companies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Built </a:t>
            </a:r>
            <a:r>
              <a:rPr lang="en-US" dirty="0" err="1"/>
              <a:t>Opteron</a:t>
            </a:r>
            <a:r>
              <a:rPr lang="en-US" dirty="0"/>
              <a:t>: tough competitor to Pentium 4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Developed x86-64, their own extension to 64 bits</a:t>
            </a:r>
          </a:p>
          <a:p>
            <a:pPr marL="39688" indent="-165100" defTabSz="895350">
              <a:tabLst>
                <a:tab pos="2349500" algn="l"/>
              </a:tabLst>
            </a:pPr>
            <a:r>
              <a:rPr lang="en-US" dirty="0"/>
              <a:t> Recent Years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Intel got its act together</a:t>
            </a:r>
          </a:p>
          <a:p>
            <a:pPr marL="839788" lvl="2" indent="-165100" defTabSz="895350">
              <a:tabLst>
                <a:tab pos="2349500" algn="l"/>
              </a:tabLst>
            </a:pPr>
            <a:r>
              <a:rPr lang="en-US" dirty="0"/>
              <a:t>Leads the world in semiconductor technology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AMD has fallen behind</a:t>
            </a:r>
          </a:p>
          <a:p>
            <a:pPr marL="839788" lvl="2" indent="-165100" defTabSz="895350">
              <a:tabLst>
                <a:tab pos="2349500" algn="l"/>
              </a:tabLst>
            </a:pPr>
            <a:r>
              <a:rPr lang="en-US" dirty="0"/>
              <a:t>Relies on external semiconductor manufacturer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Intel’s 64-Bit History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200150"/>
            <a:ext cx="7896225" cy="4972050"/>
          </a:xfrm>
        </p:spPr>
        <p:txBody>
          <a:bodyPr/>
          <a:lstStyle/>
          <a:p>
            <a:r>
              <a:rPr lang="en-US" dirty="0"/>
              <a:t>2001: Intel Attempts Radical Shift from IA32 to IA64</a:t>
            </a:r>
          </a:p>
          <a:p>
            <a:pPr lvl="1"/>
            <a:r>
              <a:rPr lang="en-US" dirty="0"/>
              <a:t>Totally different architecture (Itanium)</a:t>
            </a:r>
          </a:p>
          <a:p>
            <a:pPr lvl="1"/>
            <a:r>
              <a:rPr lang="en-US" dirty="0"/>
              <a:t>Executes IA32 code only as legacy</a:t>
            </a:r>
          </a:p>
          <a:p>
            <a:pPr lvl="1"/>
            <a:r>
              <a:rPr lang="en-US" dirty="0"/>
              <a:t>Performance disappointing</a:t>
            </a:r>
          </a:p>
          <a:p>
            <a:r>
              <a:rPr lang="en-US" dirty="0"/>
              <a:t>2003: AMD Steps in with Evolutionary Solution</a:t>
            </a:r>
          </a:p>
          <a:p>
            <a:pPr lvl="1"/>
            <a:r>
              <a:rPr lang="en-US" dirty="0"/>
              <a:t>x86-64 (now called “AMD64”)</a:t>
            </a:r>
          </a:p>
          <a:p>
            <a:r>
              <a:rPr lang="en-US" dirty="0"/>
              <a:t>Intel Felt Obligated to Focus on IA64</a:t>
            </a:r>
          </a:p>
          <a:p>
            <a:pPr lvl="1"/>
            <a:r>
              <a:rPr lang="en-US" dirty="0"/>
              <a:t>Hard to admit mistake or that AMD is better</a:t>
            </a:r>
          </a:p>
          <a:p>
            <a:r>
              <a:rPr lang="en-US" dirty="0"/>
              <a:t>2004: Intel Announces EM64T extension to IA32</a:t>
            </a:r>
          </a:p>
          <a:p>
            <a:pPr lvl="1"/>
            <a:r>
              <a:rPr lang="en-US" dirty="0"/>
              <a:t>Extended Memory 64-bit Technology</a:t>
            </a:r>
          </a:p>
          <a:p>
            <a:pPr lvl="1"/>
            <a:r>
              <a:rPr lang="en-US" dirty="0"/>
              <a:t>Almost identical to x86-64!</a:t>
            </a:r>
          </a:p>
          <a:p>
            <a:r>
              <a:rPr lang="en-US" dirty="0"/>
              <a:t>All but low-end x86 processors support x86-64</a:t>
            </a:r>
          </a:p>
          <a:p>
            <a:pPr lvl="1"/>
            <a:r>
              <a:rPr lang="en-US" dirty="0"/>
              <a:t>But, lots of code still runs in 32-bit mode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Coverage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IA32</a:t>
            </a:r>
          </a:p>
          <a:p>
            <a:pPr lvl="1"/>
            <a:r>
              <a:rPr lang="en-US" dirty="0"/>
              <a:t>The traditional x86</a:t>
            </a:r>
          </a:p>
          <a:p>
            <a:endParaRPr lang="en-US" dirty="0"/>
          </a:p>
          <a:p>
            <a:r>
              <a:rPr lang="en-US" dirty="0"/>
              <a:t>x86-64</a:t>
            </a:r>
          </a:p>
          <a:p>
            <a:pPr lvl="1"/>
            <a:r>
              <a:rPr lang="en-US" dirty="0"/>
              <a:t>The standard</a:t>
            </a:r>
          </a:p>
          <a:p>
            <a:pPr lvl="1"/>
            <a:r>
              <a:rPr lang="en-US" dirty="0" smtClean="0">
                <a:latin typeface="Courier New"/>
                <a:cs typeface="Courier New"/>
              </a:rPr>
              <a:t>bupt1&gt; </a:t>
            </a:r>
            <a:r>
              <a:rPr lang="en-US" dirty="0" err="1">
                <a:latin typeface="Courier New"/>
                <a:cs typeface="Courier New"/>
              </a:rPr>
              <a:t>gcc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 smtClean="0">
                <a:latin typeface="Courier New"/>
                <a:cs typeface="Courier New"/>
              </a:rPr>
              <a:t>hello.c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  <a:p>
            <a:r>
              <a:rPr lang="en-US" dirty="0"/>
              <a:t>Presentation</a:t>
            </a:r>
          </a:p>
          <a:p>
            <a:pPr lvl="1"/>
            <a:r>
              <a:rPr lang="en-US" dirty="0"/>
              <a:t>Book covers x86-64</a:t>
            </a:r>
          </a:p>
          <a:p>
            <a:pPr lvl="1"/>
            <a:r>
              <a:rPr lang="en-US" dirty="0"/>
              <a:t>Web aside on IA32</a:t>
            </a:r>
          </a:p>
          <a:p>
            <a:pPr lvl="1"/>
            <a:r>
              <a:rPr lang="en-US" dirty="0"/>
              <a:t>We will only cover x86-64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/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  <a:p>
            <a:pPr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216" y="1720779"/>
            <a:ext cx="1556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 programmer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137" y="3294455"/>
            <a:ext cx="2401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Assembly programmer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137" y="5377934"/>
            <a:ext cx="2030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Computer Designer</a:t>
            </a:r>
          </a:p>
        </p:txBody>
      </p:sp>
      <p:sp>
        <p:nvSpPr>
          <p:cNvPr id="9" name="Vertical Scroll 8"/>
          <p:cNvSpPr/>
          <p:nvPr/>
        </p:nvSpPr>
        <p:spPr bwMode="auto">
          <a:xfrm>
            <a:off x="2208478" y="1246325"/>
            <a:ext cx="3200400" cy="1784866"/>
          </a:xfrm>
          <a:prstGeom prst="verticalScroll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Calibri" pitchFamily="34" charset="0"/>
              </a:rPr>
              <a:t>C code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588" y="3790179"/>
            <a:ext cx="3407569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728742" y="5862040"/>
            <a:ext cx="289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Caches, clock </a:t>
            </a:r>
            <a:r>
              <a:rPr lang="en-US" sz="1800" dirty="0" err="1">
                <a:latin typeface="Calibri" pitchFamily="34" charset="0"/>
              </a:rPr>
              <a:t>freq</a:t>
            </a:r>
            <a:r>
              <a:rPr lang="en-US" sz="1800" dirty="0">
                <a:latin typeface="Calibri" pitchFamily="34" charset="0"/>
              </a:rPr>
              <a:t>, layout,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2958" y="2214319"/>
            <a:ext cx="30553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Calibri" pitchFamily="34" charset="0"/>
              </a:rPr>
              <a:t>Nice clean layers, </a:t>
            </a:r>
            <a:br>
              <a:rPr lang="en-US" sz="2800" dirty="0">
                <a:solidFill>
                  <a:srgbClr val="FF0000"/>
                </a:solidFill>
                <a:latin typeface="Calibri" pitchFamily="34" charset="0"/>
              </a:rPr>
            </a:br>
            <a:r>
              <a:rPr lang="en-US" sz="2800" dirty="0">
                <a:solidFill>
                  <a:srgbClr val="FF0000"/>
                </a:solidFill>
                <a:latin typeface="Calibri" pitchFamily="34" charset="0"/>
              </a:rPr>
              <a:t>but beware…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472" y="6231372"/>
            <a:ext cx="796158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Of course, you know that:  It’s why you are taking this course.</a:t>
            </a:r>
          </a:p>
        </p:txBody>
      </p:sp>
    </p:spTree>
    <p:extLst>
      <p:ext uri="{BB962C8B-B14F-4D97-AF65-F5344CB8AC3E}">
        <p14:creationId xmlns:p14="http://schemas.microsoft.com/office/powerpoint/2010/main" val="169544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591425" cy="762000"/>
          </a:xfrm>
        </p:spPr>
        <p:txBody>
          <a:bodyPr/>
          <a:lstStyle/>
          <a:p>
            <a:pPr eaLnBrk="1" hangingPunct="1"/>
            <a:r>
              <a:rPr lang="en-US" dirty="0"/>
              <a:t>Definitions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86348"/>
            <a:ext cx="7896225" cy="51149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Architecture:</a:t>
            </a:r>
            <a:r>
              <a:rPr lang="en-US" dirty="0"/>
              <a:t> (also ISA: instruction set architecture) The parts of a processor design that one needs to understand for writing correct machine/assembly code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instruction set specification, registers</a:t>
            </a:r>
          </a:p>
          <a:p>
            <a:pPr lvl="1"/>
            <a:endParaRPr lang="en-US" sz="1050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Machine Code</a:t>
            </a:r>
            <a:r>
              <a:rPr lang="en-US" dirty="0"/>
              <a:t>: The byte-level programs that a processor executes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Assembly Code</a:t>
            </a:r>
            <a:r>
              <a:rPr lang="en-US" dirty="0"/>
              <a:t>: A text representation of machine code</a:t>
            </a:r>
          </a:p>
          <a:p>
            <a:pPr lvl="1"/>
            <a:endParaRPr lang="en-US" sz="1100" dirty="0"/>
          </a:p>
          <a:p>
            <a:r>
              <a:rPr lang="en-US" dirty="0">
                <a:solidFill>
                  <a:srgbClr val="C00000"/>
                </a:solidFill>
              </a:rPr>
              <a:t>Microarchitecture:</a:t>
            </a:r>
            <a:r>
              <a:rPr lang="en-US" dirty="0"/>
              <a:t> Implementation of the architecture</a:t>
            </a:r>
          </a:p>
          <a:p>
            <a:pPr lvl="1"/>
            <a:r>
              <a:rPr lang="en-US" dirty="0"/>
              <a:t>Examples: cache sizes and core frequency</a:t>
            </a:r>
          </a:p>
          <a:p>
            <a:pPr lvl="1"/>
            <a:endParaRPr lang="en-US" sz="1400" dirty="0"/>
          </a:p>
          <a:p>
            <a:pPr eaLnBrk="1" hangingPunct="1"/>
            <a:r>
              <a:rPr lang="en-US" dirty="0"/>
              <a:t>Example ISAs: </a:t>
            </a:r>
          </a:p>
          <a:p>
            <a:pPr lvl="1"/>
            <a:r>
              <a:rPr lang="en-US" dirty="0"/>
              <a:t>Intel: x86, IA32, Itanium, x86-64</a:t>
            </a:r>
          </a:p>
          <a:p>
            <a:pPr lvl="1"/>
            <a:r>
              <a:rPr lang="en-US" dirty="0"/>
              <a:t>ARM: Used in almost all mobile phones</a:t>
            </a:r>
          </a:p>
          <a:p>
            <a:pPr lvl="1"/>
            <a:r>
              <a:rPr lang="en-US" dirty="0"/>
              <a:t>RISC V: New open-source ISA</a:t>
            </a:r>
          </a:p>
        </p:txBody>
      </p:sp>
    </p:spTree>
    <p:extLst>
      <p:ext uri="{BB962C8B-B14F-4D97-AF65-F5344CB8AC3E}">
        <p14:creationId xmlns:p14="http://schemas.microsoft.com/office/powerpoint/2010/main" val="257701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1066800" y="1066800"/>
            <a:ext cx="3200400" cy="2209800"/>
          </a:xfrm>
          <a:prstGeom prst="rect">
            <a:avLst/>
          </a:prstGeom>
          <a:solidFill>
            <a:srgbClr val="EFBFB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CPU</a:t>
            </a: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226300" cy="573088"/>
          </a:xfrm>
        </p:spPr>
        <p:txBody>
          <a:bodyPr/>
          <a:lstStyle/>
          <a:p>
            <a:r>
              <a:rPr lang="en-US" dirty="0"/>
              <a:t>Assembly/Machine Code View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9113" y="3331780"/>
            <a:ext cx="4852987" cy="3505200"/>
          </a:xfrm>
          <a:solidFill>
            <a:schemeClr val="bg1"/>
          </a:solidFill>
        </p:spPr>
        <p:txBody>
          <a:bodyPr/>
          <a:lstStyle/>
          <a:p>
            <a:pPr marL="227013" indent="-227013" defTabSz="895350">
              <a:buNone/>
              <a:tabLst>
                <a:tab pos="1371600" algn="l"/>
                <a:tab pos="4572000" algn="l"/>
              </a:tabLst>
            </a:pPr>
            <a:r>
              <a:rPr lang="en-US" sz="2400" dirty="0"/>
              <a:t>Programmer-Visible State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PC: Program counter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Address of next instruction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Called “RIP” (x86-64)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Register file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Heavily used program data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Condition codes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Store status information about most recent arithmetic or logical operation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Used for conditional branching</a:t>
            </a: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1409700" y="1981200"/>
            <a:ext cx="533400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PC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2362200" y="1371600"/>
            <a:ext cx="1676400" cy="7620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Registers</a:t>
            </a:r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6019800" y="1066800"/>
            <a:ext cx="1752600" cy="2209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6324600" y="1730102"/>
            <a:ext cx="1143000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Code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Stack</a:t>
            </a:r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auto">
          <a:xfrm>
            <a:off x="4267200" y="17018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auto">
          <a:xfrm>
            <a:off x="4267200" y="22352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4267200" y="27686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8" name="Text Box 12"/>
          <p:cNvSpPr txBox="1">
            <a:spLocks noChangeArrowheads="1"/>
          </p:cNvSpPr>
          <p:nvPr/>
        </p:nvSpPr>
        <p:spPr bwMode="auto">
          <a:xfrm>
            <a:off x="4267200" y="12954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Addresses</a:t>
            </a:r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4267200" y="18542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Data</a:t>
            </a:r>
          </a:p>
        </p:txBody>
      </p:sp>
      <p:sp>
        <p:nvSpPr>
          <p:cNvPr id="147470" name="Text Box 14"/>
          <p:cNvSpPr txBox="1">
            <a:spLocks noChangeArrowheads="1"/>
          </p:cNvSpPr>
          <p:nvPr/>
        </p:nvSpPr>
        <p:spPr bwMode="auto">
          <a:xfrm>
            <a:off x="4267200" y="2387600"/>
            <a:ext cx="16764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Instructions</a:t>
            </a:r>
          </a:p>
        </p:txBody>
      </p:sp>
      <p:sp>
        <p:nvSpPr>
          <p:cNvPr id="147472" name="Rectangle 16"/>
          <p:cNvSpPr>
            <a:spLocks noChangeArrowheads="1"/>
          </p:cNvSpPr>
          <p:nvPr/>
        </p:nvSpPr>
        <p:spPr bwMode="auto">
          <a:xfrm>
            <a:off x="2667000" y="2286000"/>
            <a:ext cx="1066800" cy="6858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Calibri" pitchFamily="34" charset="0"/>
              </a:rPr>
              <a:t>Condition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Codes</a:t>
            </a:r>
          </a:p>
        </p:txBody>
      </p:sp>
      <p:sp>
        <p:nvSpPr>
          <p:cNvPr id="147473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5372100" y="3625850"/>
            <a:ext cx="3619500" cy="1568450"/>
          </a:xfrm>
        </p:spPr>
        <p:txBody>
          <a:bodyPr/>
          <a:lstStyle/>
          <a:p>
            <a:pPr marL="292100" lvl="1" indent="-177800"/>
            <a:r>
              <a:rPr lang="en-US" sz="2000" b="1" dirty="0"/>
              <a:t>Memory</a:t>
            </a:r>
          </a:p>
          <a:p>
            <a:pPr marL="571500" lvl="2" indent="-165100"/>
            <a:r>
              <a:rPr lang="en-US" sz="1800" dirty="0"/>
              <a:t>Byte addressable array</a:t>
            </a:r>
          </a:p>
          <a:p>
            <a:pPr marL="571500" lvl="2" indent="-165100"/>
            <a:r>
              <a:rPr lang="en-US" sz="1800" dirty="0"/>
              <a:t>Code and user data</a:t>
            </a:r>
          </a:p>
          <a:p>
            <a:pPr marL="571500" lvl="2" indent="-165100"/>
            <a:r>
              <a:rPr lang="en-US" sz="1800" dirty="0"/>
              <a:t>Stack to support procedures</a:t>
            </a:r>
          </a:p>
          <a:p>
            <a:pPr marL="0" indent="0"/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Data Types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548687" cy="5530850"/>
          </a:xfrm>
        </p:spPr>
        <p:txBody>
          <a:bodyPr/>
          <a:lstStyle/>
          <a:p>
            <a:r>
              <a:rPr lang="en-US" dirty="0"/>
              <a:t>“Integer” data of 1, 2, 4, or 8 bytes</a:t>
            </a:r>
          </a:p>
          <a:p>
            <a:pPr lvl="1"/>
            <a:r>
              <a:rPr lang="en-US" dirty="0"/>
              <a:t>Data values</a:t>
            </a:r>
          </a:p>
          <a:p>
            <a:pPr lvl="1"/>
            <a:r>
              <a:rPr lang="en-US" dirty="0"/>
              <a:t>Addresses (</a:t>
            </a:r>
            <a:r>
              <a:rPr lang="en-US" dirty="0" err="1"/>
              <a:t>untyped</a:t>
            </a:r>
            <a:r>
              <a:rPr lang="en-US" dirty="0"/>
              <a:t> pointers)</a:t>
            </a:r>
          </a:p>
          <a:p>
            <a:endParaRPr lang="en-US" dirty="0"/>
          </a:p>
          <a:p>
            <a:r>
              <a:rPr lang="en-US" dirty="0"/>
              <a:t>Floating point data of 4, 8, or 10 bytes</a:t>
            </a:r>
          </a:p>
          <a:p>
            <a:endParaRPr lang="en-US" dirty="0"/>
          </a:p>
          <a:p>
            <a:r>
              <a:rPr lang="en-US" dirty="0"/>
              <a:t>(SIMD vector data types of 8, 16, 32 or 64 bytes)</a:t>
            </a:r>
          </a:p>
          <a:p>
            <a:endParaRPr lang="en-US" dirty="0"/>
          </a:p>
          <a:p>
            <a:r>
              <a:rPr lang="en-US" dirty="0"/>
              <a:t>Code: Byte sequences encoding series of instructions</a:t>
            </a:r>
          </a:p>
          <a:p>
            <a:endParaRPr lang="en-US" dirty="0"/>
          </a:p>
          <a:p>
            <a:r>
              <a:rPr lang="en-US" dirty="0"/>
              <a:t>No aggregate types such as arrays or structures</a:t>
            </a:r>
          </a:p>
          <a:p>
            <a:pPr lvl="1"/>
            <a:r>
              <a:rPr lang="en-US" dirty="0"/>
              <a:t>Just contiguously allocated bytes in memory</a:t>
            </a:r>
          </a:p>
        </p:txBody>
      </p:sp>
    </p:spTree>
    <p:extLst>
      <p:ext uri="{BB962C8B-B14F-4D97-AF65-F5344CB8AC3E}">
        <p14:creationId xmlns:p14="http://schemas.microsoft.com/office/powerpoint/2010/main" val="1096412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762000" y="4683648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xfrm>
            <a:off x="318682" y="266700"/>
            <a:ext cx="7592093" cy="762000"/>
          </a:xfrm>
          <a:ln/>
        </p:spPr>
        <p:txBody>
          <a:bodyPr/>
          <a:lstStyle/>
          <a:p>
            <a:pPr marL="119063" indent="-119063"/>
            <a:r>
              <a:rPr lang="en-US" dirty="0"/>
              <a:t>x86-64 Integer Registers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18682" y="5902848"/>
            <a:ext cx="7329487" cy="838200"/>
          </a:xfrm>
          <a:ln/>
        </p:spPr>
        <p:txBody>
          <a:bodyPr/>
          <a:lstStyle/>
          <a:p>
            <a:pPr lvl="1"/>
            <a:r>
              <a:rPr lang="en-US" dirty="0"/>
              <a:t>Can reference low-order 4 bytes (also low-order 1 &amp; 2 bytes)</a:t>
            </a:r>
          </a:p>
          <a:p>
            <a:pPr lvl="1"/>
            <a:r>
              <a:rPr lang="en-US" dirty="0"/>
              <a:t>Not part of memory (or cache)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2552700" y="10641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%eax</a:t>
            </a: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2552700" y="16737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%ebx</a:t>
            </a:r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2552700" y="22833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%ecx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2552700" y="28929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%edx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2552700" y="35025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%esi</a:t>
            </a: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2552700" y="41121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%edi</a:t>
            </a:r>
          </a:p>
        </p:txBody>
      </p:sp>
      <p:sp>
        <p:nvSpPr>
          <p:cNvPr id="27660" name="Rectangle 12"/>
          <p:cNvSpPr>
            <a:spLocks/>
          </p:cNvSpPr>
          <p:nvPr/>
        </p:nvSpPr>
        <p:spPr bwMode="auto">
          <a:xfrm>
            <a:off x="2552700" y="4721748"/>
            <a:ext cx="1752600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%esp</a:t>
            </a:r>
          </a:p>
        </p:txBody>
      </p:sp>
      <p:sp>
        <p:nvSpPr>
          <p:cNvPr id="27661" name="Rectangle 13"/>
          <p:cNvSpPr>
            <a:spLocks/>
          </p:cNvSpPr>
          <p:nvPr/>
        </p:nvSpPr>
        <p:spPr bwMode="auto">
          <a:xfrm>
            <a:off x="2552700" y="53186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%ebp</a:t>
            </a:r>
          </a:p>
        </p:txBody>
      </p:sp>
      <p:sp>
        <p:nvSpPr>
          <p:cNvPr id="27662" name="Rectangle 14"/>
          <p:cNvSpPr>
            <a:spLocks/>
          </p:cNvSpPr>
          <p:nvPr/>
        </p:nvSpPr>
        <p:spPr bwMode="auto">
          <a:xfrm>
            <a:off x="6515100" y="10641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%r8d</a:t>
            </a:r>
          </a:p>
        </p:txBody>
      </p:sp>
      <p:sp>
        <p:nvSpPr>
          <p:cNvPr id="27663" name="Rectangle 15"/>
          <p:cNvSpPr>
            <a:spLocks/>
          </p:cNvSpPr>
          <p:nvPr/>
        </p:nvSpPr>
        <p:spPr bwMode="auto">
          <a:xfrm>
            <a:off x="6515100" y="16737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%r9d</a:t>
            </a:r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6515100" y="22833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%r10d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6515100" y="28929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%r11d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6515100" y="35025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%r12d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6515100" y="41121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%r13d</a:t>
            </a:r>
          </a:p>
        </p:txBody>
      </p:sp>
      <p:sp>
        <p:nvSpPr>
          <p:cNvPr id="27668" name="Rectangle 20"/>
          <p:cNvSpPr>
            <a:spLocks/>
          </p:cNvSpPr>
          <p:nvPr/>
        </p:nvSpPr>
        <p:spPr bwMode="auto">
          <a:xfrm>
            <a:off x="6515100" y="47217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%r14d</a:t>
            </a:r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6515100" y="5331348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%r15d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724400" y="10260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7671" name="Rectangle 23"/>
          <p:cNvSpPr>
            <a:spLocks/>
          </p:cNvSpPr>
          <p:nvPr/>
        </p:nvSpPr>
        <p:spPr bwMode="auto">
          <a:xfrm>
            <a:off x="4724400" y="16356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7672" name="Rectangle 24"/>
          <p:cNvSpPr>
            <a:spLocks/>
          </p:cNvSpPr>
          <p:nvPr/>
        </p:nvSpPr>
        <p:spPr bwMode="auto">
          <a:xfrm>
            <a:off x="4724400" y="22452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7673" name="Rectangle 25"/>
          <p:cNvSpPr>
            <a:spLocks/>
          </p:cNvSpPr>
          <p:nvPr/>
        </p:nvSpPr>
        <p:spPr bwMode="auto">
          <a:xfrm>
            <a:off x="4724400" y="28548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7674" name="Rectangle 26"/>
          <p:cNvSpPr>
            <a:spLocks/>
          </p:cNvSpPr>
          <p:nvPr/>
        </p:nvSpPr>
        <p:spPr bwMode="auto">
          <a:xfrm>
            <a:off x="4724400" y="34644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675" name="Rectangle 27"/>
          <p:cNvSpPr>
            <a:spLocks/>
          </p:cNvSpPr>
          <p:nvPr/>
        </p:nvSpPr>
        <p:spPr bwMode="auto">
          <a:xfrm>
            <a:off x="4724400" y="40740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4724400" y="46836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7677" name="Rectangle 29"/>
          <p:cNvSpPr>
            <a:spLocks/>
          </p:cNvSpPr>
          <p:nvPr/>
        </p:nvSpPr>
        <p:spPr bwMode="auto">
          <a:xfrm>
            <a:off x="4724400" y="52932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762000" y="10260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79" name="Rectangle 31"/>
          <p:cNvSpPr>
            <a:spLocks/>
          </p:cNvSpPr>
          <p:nvPr/>
        </p:nvSpPr>
        <p:spPr bwMode="auto">
          <a:xfrm>
            <a:off x="762000" y="16356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762000" y="22452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762000" y="28548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27682" name="Rectangle 34"/>
          <p:cNvSpPr>
            <a:spLocks/>
          </p:cNvSpPr>
          <p:nvPr/>
        </p:nvSpPr>
        <p:spPr bwMode="auto">
          <a:xfrm>
            <a:off x="762000" y="34644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27683" name="Rectangle 35"/>
          <p:cNvSpPr>
            <a:spLocks/>
          </p:cNvSpPr>
          <p:nvPr/>
        </p:nvSpPr>
        <p:spPr bwMode="auto">
          <a:xfrm>
            <a:off x="762000" y="40740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27684" name="Rectangle 36"/>
          <p:cNvSpPr>
            <a:spLocks/>
          </p:cNvSpPr>
          <p:nvPr/>
        </p:nvSpPr>
        <p:spPr bwMode="auto">
          <a:xfrm>
            <a:off x="762000" y="5293248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History: IA32 Registers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295400" y="1333501"/>
            <a:ext cx="5715000" cy="4533902"/>
            <a:chOff x="3984" y="1008"/>
            <a:chExt cx="1584" cy="225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984" y="100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984" y="1296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984" y="1584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84" y="1872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%ebx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984" y="2160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%esi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984" y="244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%edi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984" y="2736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%esp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984" y="3024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%ebp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184326" y="1404970"/>
            <a:ext cx="2819400" cy="343694"/>
            <a:chOff x="4495800" y="1404970"/>
            <a:chExt cx="2819400" cy="343694"/>
          </a:xfrm>
        </p:grpSpPr>
        <p:sp>
          <p:nvSpPr>
            <p:cNvPr id="13" name="Rectangle 12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19" name="Straight Connector 18"/>
            <p:cNvCxnSpPr>
              <a:stCxn id="13" idx="0"/>
              <a:endCxn id="13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" name="Group 22"/>
          <p:cNvGrpSpPr/>
          <p:nvPr/>
        </p:nvGrpSpPr>
        <p:grpSpPr>
          <a:xfrm>
            <a:off x="4184326" y="1989024"/>
            <a:ext cx="2819400" cy="343694"/>
            <a:chOff x="4495800" y="1404970"/>
            <a:chExt cx="2819400" cy="34369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5" name="Straight Connector 24"/>
            <p:cNvCxnSpPr>
              <a:stCxn id="24" idx="0"/>
              <a:endCxn id="24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>
            <a:off x="4184326" y="2558580"/>
            <a:ext cx="2819400" cy="343694"/>
            <a:chOff x="4495800" y="1404970"/>
            <a:chExt cx="2819400" cy="343694"/>
          </a:xfrm>
        </p:grpSpPr>
        <p:sp>
          <p:nvSpPr>
            <p:cNvPr id="27" name="Rectangle 26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8" name="Straight Connector 27"/>
            <p:cNvCxnSpPr>
              <a:stCxn id="27" idx="0"/>
              <a:endCxn id="27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4184326" y="3141484"/>
            <a:ext cx="2819400" cy="343694"/>
            <a:chOff x="4495800" y="1404970"/>
            <a:chExt cx="2819400" cy="343694"/>
          </a:xfrm>
        </p:grpSpPr>
        <p:sp>
          <p:nvSpPr>
            <p:cNvPr id="30" name="Rectangle 29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32"/>
          <p:cNvSpPr/>
          <p:nvPr/>
        </p:nvSpPr>
        <p:spPr bwMode="auto">
          <a:xfrm>
            <a:off x="4184326" y="3717666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184326" y="4301720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184326" y="4871276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4184326" y="5454180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5814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14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814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5814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81400" y="370801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81400" y="42872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81400" y="485769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%sp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1400" y="544357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bp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720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%dh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bh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9436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9436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%dl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3" name="AutoShape 7"/>
          <p:cNvSpPr>
            <a:spLocks/>
          </p:cNvSpPr>
          <p:nvPr/>
        </p:nvSpPr>
        <p:spPr bwMode="auto">
          <a:xfrm rot="5400000">
            <a:off x="5451983" y="4671257"/>
            <a:ext cx="279400" cy="2824085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267200" y="6172200"/>
            <a:ext cx="2660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16-bit virtual registers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(backwards compatibility)</a:t>
            </a:r>
          </a:p>
        </p:txBody>
      </p:sp>
      <p:sp>
        <p:nvSpPr>
          <p:cNvPr id="75" name="AutoShape 7"/>
          <p:cNvSpPr>
            <a:spLocks/>
          </p:cNvSpPr>
          <p:nvPr/>
        </p:nvSpPr>
        <p:spPr bwMode="auto">
          <a:xfrm rot="10800000">
            <a:off x="914400" y="1333500"/>
            <a:ext cx="279400" cy="337631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 rot="16200000">
            <a:off x="-221736" y="2812536"/>
            <a:ext cx="172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general purpose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55159" y="1391622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accumulate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55159" y="197543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counter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55159" y="254129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55159" y="313178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base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55159" y="3626836"/>
            <a:ext cx="936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source 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55159" y="420464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destination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55159" y="4701317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stack </a:t>
            </a:r>
          </a:p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55159" y="5313528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base</a:t>
            </a:r>
          </a:p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3942" y="649069"/>
            <a:ext cx="1850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Origin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(mostly obsolete)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6" grpId="0" animBg="1"/>
      <p:bldP spid="39" grpId="0" animBg="1"/>
      <p:bldP spid="42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9" grpId="0"/>
      <p:bldP spid="70" grpId="0"/>
      <p:bldP spid="71" grpId="0"/>
      <p:bldP spid="72" grpId="0"/>
      <p:bldP spid="73" grpId="0" animBg="1"/>
      <p:bldP spid="74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Operations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327150"/>
            <a:ext cx="8548687" cy="4921250"/>
          </a:xfrm>
        </p:spPr>
        <p:txBody>
          <a:bodyPr/>
          <a:lstStyle/>
          <a:p>
            <a:r>
              <a:rPr lang="en-US" dirty="0"/>
              <a:t>Transfer data between memory and register</a:t>
            </a:r>
          </a:p>
          <a:p>
            <a:pPr lvl="1"/>
            <a:r>
              <a:rPr lang="en-US" dirty="0"/>
              <a:t>Load data from memory into register</a:t>
            </a:r>
          </a:p>
          <a:p>
            <a:pPr lvl="1"/>
            <a:r>
              <a:rPr lang="en-US" dirty="0"/>
              <a:t>Store register data into memory</a:t>
            </a:r>
          </a:p>
          <a:p>
            <a:endParaRPr lang="en-US" dirty="0"/>
          </a:p>
          <a:p>
            <a:r>
              <a:rPr lang="en-US" dirty="0"/>
              <a:t>Perform arithmetic function on register or memory data</a:t>
            </a:r>
          </a:p>
          <a:p>
            <a:endParaRPr lang="en-US" dirty="0"/>
          </a:p>
          <a:p>
            <a:r>
              <a:rPr lang="en-US" dirty="0"/>
              <a:t>Transfer control</a:t>
            </a:r>
          </a:p>
          <a:p>
            <a:pPr lvl="1"/>
            <a:r>
              <a:rPr lang="en-US" dirty="0"/>
              <a:t>Unconditional jumps to/from procedures</a:t>
            </a:r>
          </a:p>
          <a:p>
            <a:pPr lvl="1"/>
            <a:r>
              <a:rPr lang="en-US" dirty="0"/>
              <a:t>Conditional branches</a:t>
            </a:r>
          </a:p>
          <a:p>
            <a:pPr lvl="1"/>
            <a:r>
              <a:rPr lang="en-US"/>
              <a:t>Indirect branches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30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5537200" cy="573088"/>
          </a:xfrm>
        </p:spPr>
        <p:txBody>
          <a:bodyPr/>
          <a:lstStyle/>
          <a:p>
            <a:r>
              <a:rPr lang="en-US" dirty="0"/>
              <a:t>Moving Data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100138"/>
            <a:ext cx="8396287" cy="5224462"/>
          </a:xfrm>
        </p:spPr>
        <p:txBody>
          <a:bodyPr/>
          <a:lstStyle/>
          <a:p>
            <a:r>
              <a:rPr lang="en-US" dirty="0"/>
              <a:t>Moving Data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movq</a:t>
            </a:r>
            <a:r>
              <a:rPr lang="en-US" b="1" dirty="0"/>
              <a:t> </a:t>
            </a:r>
            <a:r>
              <a:rPr lang="en-US" b="1" i="1" dirty="0"/>
              <a:t>Source</a:t>
            </a:r>
            <a:r>
              <a:rPr lang="en-US" b="1" dirty="0"/>
              <a:t>, </a:t>
            </a:r>
            <a:r>
              <a:rPr lang="en-US" b="1" i="1" dirty="0" err="1"/>
              <a:t>Dest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Operand Types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Immediate:</a:t>
            </a:r>
            <a:r>
              <a:rPr lang="en-US" dirty="0"/>
              <a:t> Constant integer data</a:t>
            </a:r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itchFamily="49" charset="0"/>
              </a:rPr>
              <a:t>$0x400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$-533</a:t>
            </a:r>
            <a:endParaRPr lang="en-US" dirty="0"/>
          </a:p>
          <a:p>
            <a:pPr lvl="2"/>
            <a:r>
              <a:rPr lang="en-US" dirty="0"/>
              <a:t>Like C constant, but prefixed with </a:t>
            </a:r>
            <a:r>
              <a:rPr lang="en-US" b="1" dirty="0">
                <a:latin typeface="Courier New" pitchFamily="49" charset="0"/>
              </a:rPr>
              <a:t>‘$’</a:t>
            </a:r>
          </a:p>
          <a:p>
            <a:pPr lvl="2"/>
            <a:r>
              <a:rPr lang="en-US" dirty="0"/>
              <a:t>Encoded with 1, 2, or 4 bytes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Register: </a:t>
            </a:r>
            <a:r>
              <a:rPr lang="en-US" dirty="0"/>
              <a:t>One of 16 integer registers</a:t>
            </a:r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rax</a:t>
            </a:r>
            <a:r>
              <a:rPr lang="en-US" b="1" dirty="0">
                <a:latin typeface="Courier New" pitchFamily="49" charset="0"/>
              </a:rPr>
              <a:t>, %r13</a:t>
            </a:r>
          </a:p>
          <a:p>
            <a:pPr lvl="2"/>
            <a:r>
              <a:rPr lang="en-US" dirty="0"/>
              <a:t>But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rsp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dirty="0"/>
              <a:t>reserved for special use</a:t>
            </a:r>
          </a:p>
          <a:p>
            <a:pPr lvl="2"/>
            <a:r>
              <a:rPr lang="en-US" dirty="0"/>
              <a:t>Others have special uses for particular instructions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Memory:</a:t>
            </a:r>
            <a:r>
              <a:rPr lang="en-US" dirty="0"/>
              <a:t> 8 consecutive bytes of memory at address given by register</a:t>
            </a:r>
          </a:p>
          <a:p>
            <a:pPr lvl="2"/>
            <a:r>
              <a:rPr lang="en-US" dirty="0"/>
              <a:t>Simplest example: </a:t>
            </a:r>
            <a:r>
              <a:rPr lang="en-US" b="1" dirty="0">
                <a:latin typeface="Courier New" pitchFamily="49" charset="0"/>
              </a:rPr>
              <a:t>(%</a:t>
            </a:r>
            <a:r>
              <a:rPr lang="en-US" b="1" dirty="0" err="1">
                <a:latin typeface="Courier New" pitchFamily="49" charset="0"/>
              </a:rPr>
              <a:t>rax</a:t>
            </a:r>
            <a:r>
              <a:rPr lang="en-US" b="1" dirty="0">
                <a:latin typeface="Courier New" pitchFamily="49" charset="0"/>
              </a:rPr>
              <a:t>)</a:t>
            </a:r>
          </a:p>
          <a:p>
            <a:pPr lvl="2"/>
            <a:r>
              <a:rPr lang="en-US" dirty="0"/>
              <a:t>Various other “addressing modes”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167416" y="609600"/>
            <a:ext cx="2519384" cy="4267200"/>
            <a:chOff x="6167416" y="609600"/>
            <a:chExt cx="2519384" cy="4267200"/>
          </a:xfrm>
        </p:grpSpPr>
        <p:sp>
          <p:nvSpPr>
            <p:cNvPr id="156676" name="Rectangle 4"/>
            <p:cNvSpPr>
              <a:spLocks noChangeArrowheads="1"/>
            </p:cNvSpPr>
            <p:nvPr/>
          </p:nvSpPr>
          <p:spPr bwMode="auto">
            <a:xfrm>
              <a:off x="6172200" y="609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7" name="Rectangle 5"/>
            <p:cNvSpPr>
              <a:spLocks noChangeArrowheads="1"/>
            </p:cNvSpPr>
            <p:nvPr/>
          </p:nvSpPr>
          <p:spPr bwMode="auto">
            <a:xfrm>
              <a:off x="6172200" y="1066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8" name="Rectangle 6"/>
            <p:cNvSpPr>
              <a:spLocks noChangeArrowheads="1"/>
            </p:cNvSpPr>
            <p:nvPr/>
          </p:nvSpPr>
          <p:spPr bwMode="auto">
            <a:xfrm>
              <a:off x="6172200" y="1524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9" name="Rectangle 7"/>
            <p:cNvSpPr>
              <a:spLocks noChangeArrowheads="1"/>
            </p:cNvSpPr>
            <p:nvPr/>
          </p:nvSpPr>
          <p:spPr bwMode="auto">
            <a:xfrm>
              <a:off x="6172200" y="19812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rbx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0" name="Rectangle 8"/>
            <p:cNvSpPr>
              <a:spLocks noChangeArrowheads="1"/>
            </p:cNvSpPr>
            <p:nvPr/>
          </p:nvSpPr>
          <p:spPr bwMode="auto">
            <a:xfrm>
              <a:off x="6172200" y="24384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rsi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1" name="Rectangle 9"/>
            <p:cNvSpPr>
              <a:spLocks noChangeArrowheads="1"/>
            </p:cNvSpPr>
            <p:nvPr/>
          </p:nvSpPr>
          <p:spPr bwMode="auto">
            <a:xfrm>
              <a:off x="6172200" y="2895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rdi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2" name="Rectangle 10"/>
            <p:cNvSpPr>
              <a:spLocks noChangeArrowheads="1"/>
            </p:cNvSpPr>
            <p:nvPr/>
          </p:nvSpPr>
          <p:spPr bwMode="auto">
            <a:xfrm>
              <a:off x="6172200" y="3352800"/>
              <a:ext cx="2514600" cy="38100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rsp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3" name="Rectangle 11"/>
            <p:cNvSpPr>
              <a:spLocks noChangeArrowheads="1"/>
            </p:cNvSpPr>
            <p:nvPr/>
          </p:nvSpPr>
          <p:spPr bwMode="auto">
            <a:xfrm>
              <a:off x="6172200" y="3810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rbp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167416" y="4495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 smtClean="0">
                  <a:latin typeface="Courier New" pitchFamily="49" charset="0"/>
                </a:rPr>
                <a:t>rn</a:t>
              </a:r>
              <a:r>
                <a:rPr lang="en-US" dirty="0" smtClean="0">
                  <a:latin typeface="Courier New" pitchFamily="49" charset="0"/>
                </a:rPr>
                <a:t>(n=8~15)</a:t>
              </a:r>
              <a:endParaRPr lang="en-US" dirty="0">
                <a:latin typeface="Courier New" pitchFamily="49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2742" y="1509445"/>
            <a:ext cx="2266308" cy="4374222"/>
            <a:chOff x="102742" y="1509445"/>
            <a:chExt cx="2266308" cy="4374222"/>
          </a:xfrm>
        </p:grpSpPr>
        <p:sp>
          <p:nvSpPr>
            <p:cNvPr id="2" name="Oval 1"/>
            <p:cNvSpPr/>
            <p:nvPr/>
          </p:nvSpPr>
          <p:spPr bwMode="auto">
            <a:xfrm>
              <a:off x="1256444" y="1509445"/>
              <a:ext cx="312934" cy="471755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2056116" y="5411912"/>
              <a:ext cx="312934" cy="471755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5" name="Straight Connector 4"/>
            <p:cNvCxnSpPr>
              <a:stCxn id="2" idx="3"/>
            </p:cNvCxnSpPr>
            <p:nvPr/>
          </p:nvCxnSpPr>
          <p:spPr bwMode="auto">
            <a:xfrm flipH="1">
              <a:off x="102742" y="1912113"/>
              <a:ext cx="1199530" cy="2088387"/>
            </a:xfrm>
            <a:prstGeom prst="line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Connector 6"/>
            <p:cNvCxnSpPr/>
            <p:nvPr/>
          </p:nvCxnSpPr>
          <p:spPr bwMode="auto">
            <a:xfrm>
              <a:off x="102742" y="4000500"/>
              <a:ext cx="1953374" cy="1647289"/>
            </a:xfrm>
            <a:prstGeom prst="line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9" name="TextBox 18"/>
          <p:cNvSpPr txBox="1"/>
          <p:nvPr/>
        </p:nvSpPr>
        <p:spPr>
          <a:xfrm>
            <a:off x="5951435" y="5970657"/>
            <a:ext cx="267688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Warning: Intel docs use</a:t>
            </a:r>
            <a:br>
              <a:rPr lang="en-US" sz="2000" dirty="0">
                <a:solidFill>
                  <a:srgbClr val="FF0000"/>
                </a:solidFill>
                <a:latin typeface="Calibri" pitchFamily="34" charset="0"/>
              </a:rPr>
            </a:br>
            <a:r>
              <a:rPr lang="en-US" sz="2000" dirty="0" err="1">
                <a:solidFill>
                  <a:srgbClr val="FF0000"/>
                </a:solidFill>
                <a:latin typeface="Calibri" pitchFamily="34" charset="0"/>
              </a:rPr>
              <a:t>mov</a:t>
            </a:r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Calibri" pitchFamily="34" charset="0"/>
              </a:rPr>
              <a:t>Dest</a:t>
            </a:r>
            <a:r>
              <a:rPr lang="en-US" sz="2000" i="1" dirty="0">
                <a:solidFill>
                  <a:srgbClr val="FF0000"/>
                </a:solidFill>
                <a:latin typeface="Calibri" pitchFamily="34" charset="0"/>
              </a:rPr>
              <a:t>,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7165975" cy="573088"/>
          </a:xfrm>
        </p:spPr>
        <p:txBody>
          <a:bodyPr/>
          <a:lstStyle/>
          <a:p>
            <a:r>
              <a:rPr lang="en-US">
                <a:latin typeface="Courier New" pitchFamily="49" charset="0"/>
              </a:rPr>
              <a:t>movq</a:t>
            </a:r>
            <a:r>
              <a:rPr lang="en-US"/>
              <a:t> Operand Combinations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943600"/>
            <a:ext cx="8140700" cy="533400"/>
          </a:xfrm>
          <a:noFill/>
        </p:spPr>
        <p:txBody>
          <a:bodyPr lIns="0" tIns="0" rIns="0" bIns="0"/>
          <a:lstStyle/>
          <a:p>
            <a:pPr marL="0" indent="0" algn="ctr">
              <a:buNone/>
            </a:pPr>
            <a:r>
              <a:rPr lang="en-US" i="1">
                <a:solidFill>
                  <a:srgbClr val="C00000"/>
                </a:solidFill>
              </a:rPr>
              <a:t>Cannot do memory-memory transfer with a single instruction</a:t>
            </a: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228600" y="3771900"/>
            <a:ext cx="93627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ourier New" pitchFamily="49" charset="0"/>
              </a:rPr>
              <a:t>movq</a:t>
            </a:r>
            <a:endParaRPr lang="en-US" sz="2400" dirty="0">
              <a:latin typeface="Courier New" pitchFamily="49" charset="0"/>
            </a:endParaRP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1600200" y="2705100"/>
            <a:ext cx="76014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Imm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1600200" y="37719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1600200" y="4914900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2819400" y="24765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5" name="Text Box 9"/>
          <p:cNvSpPr txBox="1">
            <a:spLocks noChangeArrowheads="1"/>
          </p:cNvSpPr>
          <p:nvPr/>
        </p:nvSpPr>
        <p:spPr bwMode="auto">
          <a:xfrm>
            <a:off x="2819400" y="2933700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2819400" y="36195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7" name="Text Box 11"/>
          <p:cNvSpPr txBox="1">
            <a:spLocks noChangeArrowheads="1"/>
          </p:cNvSpPr>
          <p:nvPr/>
        </p:nvSpPr>
        <p:spPr bwMode="auto">
          <a:xfrm>
            <a:off x="2819400" y="4065588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2819400" y="49149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9" name="Text Box 13"/>
          <p:cNvSpPr txBox="1">
            <a:spLocks noChangeArrowheads="1"/>
          </p:cNvSpPr>
          <p:nvPr/>
        </p:nvSpPr>
        <p:spPr bwMode="auto">
          <a:xfrm>
            <a:off x="1447800" y="1752600"/>
            <a:ext cx="104913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Source</a:t>
            </a:r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2819400" y="1752600"/>
            <a:ext cx="76149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alibri" pitchFamily="34" charset="0"/>
              </a:rPr>
              <a:t>Dest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57716" name="AutoShape 20"/>
          <p:cNvSpPr>
            <a:spLocks/>
          </p:cNvSpPr>
          <p:nvPr/>
        </p:nvSpPr>
        <p:spPr bwMode="auto">
          <a:xfrm>
            <a:off x="1295400" y="2628900"/>
            <a:ext cx="304800" cy="27432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7" name="AutoShape 21"/>
          <p:cNvSpPr>
            <a:spLocks/>
          </p:cNvSpPr>
          <p:nvPr/>
        </p:nvSpPr>
        <p:spPr bwMode="auto">
          <a:xfrm>
            <a:off x="2514600" y="2552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8" name="AutoShape 22"/>
          <p:cNvSpPr>
            <a:spLocks/>
          </p:cNvSpPr>
          <p:nvPr/>
        </p:nvSpPr>
        <p:spPr bwMode="auto">
          <a:xfrm>
            <a:off x="2514600" y="3695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6858000" y="1752600"/>
            <a:ext cx="130676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C Analog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3733800" y="2506663"/>
            <a:ext cx="233945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$0x4,%rax</a:t>
            </a:r>
          </a:p>
        </p:txBody>
      </p:sp>
      <p:sp>
        <p:nvSpPr>
          <p:cNvPr id="157720" name="Text Box 24"/>
          <p:cNvSpPr txBox="1">
            <a:spLocks noChangeArrowheads="1"/>
          </p:cNvSpPr>
          <p:nvPr/>
        </p:nvSpPr>
        <p:spPr bwMode="auto">
          <a:xfrm>
            <a:off x="6673850" y="2506663"/>
            <a:ext cx="18605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 = 0x4;</a:t>
            </a:r>
          </a:p>
        </p:txBody>
      </p:sp>
      <p:sp>
        <p:nvSpPr>
          <p:cNvPr id="157712" name="Text Box 16"/>
          <p:cNvSpPr txBox="1">
            <a:spLocks noChangeArrowheads="1"/>
          </p:cNvSpPr>
          <p:nvPr/>
        </p:nvSpPr>
        <p:spPr bwMode="auto">
          <a:xfrm>
            <a:off x="3733800" y="2963863"/>
            <a:ext cx="280119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$-147,(%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157721" name="Text Box 25"/>
          <p:cNvSpPr txBox="1">
            <a:spLocks noChangeArrowheads="1"/>
          </p:cNvSpPr>
          <p:nvPr/>
        </p:nvSpPr>
        <p:spPr bwMode="auto">
          <a:xfrm>
            <a:off x="6673850" y="2963863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*p = -147;</a:t>
            </a:r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3733800" y="3649663"/>
            <a:ext cx="233945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,%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57722" name="Text Box 26"/>
          <p:cNvSpPr txBox="1">
            <a:spLocks noChangeArrowheads="1"/>
          </p:cNvSpPr>
          <p:nvPr/>
        </p:nvSpPr>
        <p:spPr bwMode="auto">
          <a:xfrm>
            <a:off x="6673850" y="3649663"/>
            <a:ext cx="23177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temp2 = temp1;</a:t>
            </a:r>
          </a:p>
        </p:txBody>
      </p:sp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3733800" y="4095750"/>
            <a:ext cx="264727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,(%</a:t>
            </a:r>
            <a:r>
              <a:rPr lang="en-US" sz="2000" dirty="0" err="1">
                <a:latin typeface="Courier New" pitchFamily="49" charset="0"/>
              </a:rPr>
              <a:t>rdx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157723" name="Text Box 27"/>
          <p:cNvSpPr txBox="1">
            <a:spLocks noChangeArrowheads="1"/>
          </p:cNvSpPr>
          <p:nvPr/>
        </p:nvSpPr>
        <p:spPr bwMode="auto">
          <a:xfrm>
            <a:off x="6673850" y="4095750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*p = temp;</a:t>
            </a:r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3733800" y="4945063"/>
            <a:ext cx="264727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(%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),%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57724" name="Text Box 28"/>
          <p:cNvSpPr txBox="1">
            <a:spLocks noChangeArrowheads="1"/>
          </p:cNvSpPr>
          <p:nvPr/>
        </p:nvSpPr>
        <p:spPr bwMode="auto">
          <a:xfrm>
            <a:off x="6673850" y="4945063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 = *p;</a:t>
            </a:r>
          </a:p>
        </p:txBody>
      </p:sp>
      <p:sp>
        <p:nvSpPr>
          <p:cNvPr id="157725" name="Text Box 29"/>
          <p:cNvSpPr txBox="1">
            <a:spLocks noChangeArrowheads="1"/>
          </p:cNvSpPr>
          <p:nvPr/>
        </p:nvSpPr>
        <p:spPr bwMode="auto">
          <a:xfrm>
            <a:off x="4572000" y="1752600"/>
            <a:ext cx="1220399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alibri" pitchFamily="34" charset="0"/>
              </a:rPr>
              <a:t>Src,Dest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1" grpId="0"/>
      <p:bldP spid="157720" grpId="0"/>
      <p:bldP spid="157712" grpId="0"/>
      <p:bldP spid="157721" grpId="0"/>
      <p:bldP spid="157713" grpId="0"/>
      <p:bldP spid="157722" grpId="0"/>
      <p:bldP spid="157714" grpId="0"/>
      <p:bldP spid="157723" grpId="0"/>
      <p:bldP spid="157715" grpId="0"/>
      <p:bldP spid="1577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Simple Memory Addressing Modes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Normal	(R)	</a:t>
            </a:r>
            <a:r>
              <a:rPr lang="en-US" dirty="0" err="1"/>
              <a:t>Mem[Reg[R</a:t>
            </a:r>
            <a:r>
              <a:rPr lang="en-US" dirty="0"/>
              <a:t>]]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memory address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Aha! Pointer dereferencing in C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(%</a:t>
            </a:r>
            <a:r>
              <a:rPr lang="en-US" sz="2400" b="1" dirty="0" err="1">
                <a:latin typeface="Courier New" pitchFamily="49" charset="0"/>
              </a:rPr>
              <a:t>rcx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rax</a:t>
            </a:r>
            <a:endParaRPr lang="en-US" sz="2400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endParaRPr lang="en-US" sz="2400" dirty="0"/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Displacement	D(R)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[R]+D]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start of memory region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Constant displacement D specifies offset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8(%</a:t>
            </a:r>
            <a:r>
              <a:rPr lang="en-US" sz="2400" b="1" dirty="0" err="1">
                <a:latin typeface="Courier New" pitchFamily="49" charset="0"/>
              </a:rPr>
              <a:t>rbp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rdx</a:t>
            </a:r>
            <a:endParaRPr lang="en-US" sz="2400" b="1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658100" cy="573088"/>
          </a:xfrm>
        </p:spPr>
        <p:txBody>
          <a:bodyPr/>
          <a:lstStyle/>
          <a:p>
            <a:r>
              <a:rPr lang="en-US" dirty="0"/>
              <a:t>Example of Simple Addressing Modes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495800" y="2154198"/>
            <a:ext cx="41910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 err="1">
                <a:latin typeface="Courier New" pitchFamily="49" charset="0"/>
              </a:rPr>
              <a:t>whatAmI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7349" y="1171253"/>
            <a:ext cx="40642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whatAmI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(&lt;type&gt; a, &lt;type&gt; b)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????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366462" y="1839074"/>
            <a:ext cx="1196940" cy="2731582"/>
            <a:chOff x="1366462" y="1839074"/>
            <a:chExt cx="1196940" cy="2731582"/>
          </a:xfrm>
        </p:grpSpPr>
        <p:cxnSp>
          <p:nvCxnSpPr>
            <p:cNvPr id="4" name="Straight Arrow Connector 3"/>
            <p:cNvCxnSpPr/>
            <p:nvPr/>
          </p:nvCxnSpPr>
          <p:spPr bwMode="auto">
            <a:xfrm flipV="1">
              <a:off x="1869897" y="1839074"/>
              <a:ext cx="523981" cy="235278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" name="TextBox 4"/>
            <p:cNvSpPr txBox="1"/>
            <p:nvPr/>
          </p:nvSpPr>
          <p:spPr>
            <a:xfrm>
              <a:off x="1366462" y="4201324"/>
              <a:ext cx="1196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rdi</a:t>
              </a:r>
              <a:endParaRPr lang="en-US" sz="1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756043" y="1839075"/>
            <a:ext cx="1196940" cy="2576931"/>
            <a:chOff x="2756043" y="1839075"/>
            <a:chExt cx="1196940" cy="2576931"/>
          </a:xfrm>
        </p:grpSpPr>
        <p:cxnSp>
          <p:nvCxnSpPr>
            <p:cNvPr id="9" name="Straight Arrow Connector 8"/>
            <p:cNvCxnSpPr/>
            <p:nvPr/>
          </p:nvCxnSpPr>
          <p:spPr bwMode="auto">
            <a:xfrm flipV="1">
              <a:off x="3161872" y="1839075"/>
              <a:ext cx="598470" cy="2188395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2756043" y="4046674"/>
              <a:ext cx="1196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rsi</a:t>
              </a:r>
              <a:endParaRPr lang="en-US" sz="1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357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658100" cy="573088"/>
          </a:xfrm>
        </p:spPr>
        <p:txBody>
          <a:bodyPr/>
          <a:lstStyle/>
          <a:p>
            <a:r>
              <a:rPr lang="en-US" dirty="0"/>
              <a:t>Example of Simple Addressing Modes</a:t>
            </a: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152400" y="1600200"/>
            <a:ext cx="3962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swap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(long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, long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)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t0 =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t1 =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 = t1;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 = t0;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495800" y="2154198"/>
            <a:ext cx="41910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331822" y="1780988"/>
            <a:ext cx="1752600" cy="1752600"/>
            <a:chOff x="9111129" y="1790700"/>
            <a:chExt cx="1752600" cy="1752600"/>
          </a:xfrm>
        </p:grpSpPr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0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1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304800" y="1295400"/>
            <a:ext cx="3962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swap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(long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, long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)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t0 =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t1 =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 = t1;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 = t0;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60773" name="Text Box 5"/>
          <p:cNvSpPr txBox="1">
            <a:spLocks noChangeArrowheads="1"/>
          </p:cNvSpPr>
          <p:nvPr/>
        </p:nvSpPr>
        <p:spPr bwMode="auto">
          <a:xfrm>
            <a:off x="7090370" y="833735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533400" y="4114800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alibri" pitchFamily="34" charset="0"/>
              </a:rPr>
              <a:t>Register	Value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rdi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xp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rsi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yp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	t0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	t1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3048000" y="48006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4516399" y="1219200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cxnSp>
        <p:nvCxnSpPr>
          <p:cNvPr id="3" name="Straight Arrow Connector 2"/>
          <p:cNvCxnSpPr>
            <a:endCxn id="34" idx="1"/>
          </p:cNvCxnSpPr>
          <p:nvPr/>
        </p:nvCxnSpPr>
        <p:spPr bwMode="auto">
          <a:xfrm flipV="1">
            <a:off x="5715000" y="1647175"/>
            <a:ext cx="1466178" cy="334025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5715000" y="2438400"/>
            <a:ext cx="1451237" cy="685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Oval 4"/>
          <p:cNvSpPr/>
          <p:nvPr/>
        </p:nvSpPr>
        <p:spPr bwMode="auto">
          <a:xfrm>
            <a:off x="5638800" y="19050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5638800" y="23622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181178" y="1456675"/>
            <a:ext cx="1066800" cy="1905000"/>
            <a:chOff x="7181178" y="1456675"/>
            <a:chExt cx="1066800" cy="1905000"/>
          </a:xfrm>
        </p:grpSpPr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7181178" y="1456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7181178" y="1837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7181178" y="2218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7181178" y="2599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8" name="Rectangle 20"/>
            <p:cNvSpPr>
              <a:spLocks noChangeArrowheads="1"/>
            </p:cNvSpPr>
            <p:nvPr/>
          </p:nvSpPr>
          <p:spPr bwMode="auto">
            <a:xfrm>
              <a:off x="7181178" y="2980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alibri" pitchFamily="34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5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6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6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6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6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81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53" idx="1"/>
            <a:endCxn id="71" idx="3"/>
          </p:cNvCxnSpPr>
          <p:nvPr/>
        </p:nvCxnSpPr>
        <p:spPr bwMode="auto">
          <a:xfrm flipH="1">
            <a:off x="2863423" y="1852210"/>
            <a:ext cx="2089577" cy="1066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116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58" idx="1"/>
            <a:endCxn id="72" idx="3"/>
          </p:cNvCxnSpPr>
          <p:nvPr/>
        </p:nvCxnSpPr>
        <p:spPr bwMode="auto">
          <a:xfrm flipH="1">
            <a:off x="2863423" y="3376210"/>
            <a:ext cx="2089577" cy="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6723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ourier New" pitchFamily="49" charset="0"/>
              </a:rPr>
              <a:t>456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72" idx="3"/>
            <a:endCxn id="53" idx="1"/>
          </p:cNvCxnSpPr>
          <p:nvPr/>
        </p:nvCxnSpPr>
        <p:spPr bwMode="auto">
          <a:xfrm flipV="1">
            <a:off x="2863423" y="1852210"/>
            <a:ext cx="2089577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0001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123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71" idx="3"/>
          </p:cNvCxnSpPr>
          <p:nvPr/>
        </p:nvCxnSpPr>
        <p:spPr bwMode="auto">
          <a:xfrm>
            <a:off x="2863423" y="2919010"/>
            <a:ext cx="2074636" cy="4191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0704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Simple Memory Addressing Modes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Normal	(R)	</a:t>
            </a:r>
            <a:r>
              <a:rPr lang="en-US" dirty="0" err="1"/>
              <a:t>Mem[Reg[R</a:t>
            </a:r>
            <a:r>
              <a:rPr lang="en-US" dirty="0"/>
              <a:t>]]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memory address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Aha! Pointer dereferencing in C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(%</a:t>
            </a:r>
            <a:r>
              <a:rPr lang="en-US" sz="2400" b="1" dirty="0" err="1">
                <a:latin typeface="Courier New" pitchFamily="49" charset="0"/>
              </a:rPr>
              <a:t>rcx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rax</a:t>
            </a:r>
            <a:endParaRPr lang="en-US" sz="2400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endParaRPr lang="en-US" sz="2400" dirty="0"/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Displacement	D(R)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[R]+D]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start of memory region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Constant displacement D specifies offset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8(%</a:t>
            </a:r>
            <a:r>
              <a:rPr lang="en-US" sz="2400" b="1" dirty="0" err="1">
                <a:latin typeface="Courier New" pitchFamily="49" charset="0"/>
              </a:rPr>
              <a:t>rbp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rdx</a:t>
            </a:r>
            <a:endParaRPr 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952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077200" cy="573088"/>
          </a:xfrm>
        </p:spPr>
        <p:txBody>
          <a:bodyPr/>
          <a:lstStyle/>
          <a:p>
            <a:r>
              <a:rPr lang="en-US" dirty="0"/>
              <a:t>Complete Memory Addressing Modes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307387" cy="5530850"/>
          </a:xfrm>
        </p:spPr>
        <p:txBody>
          <a:bodyPr/>
          <a:lstStyle/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Most General Form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 D]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D: 	Constant “displacement” 1, 2, or 4 bytes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Rb</a:t>
            </a:r>
            <a:r>
              <a:rPr lang="en-US" dirty="0"/>
              <a:t>: 	Base register: Any of 16 integer registers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Ri</a:t>
            </a:r>
            <a:r>
              <a:rPr lang="en-US" dirty="0"/>
              <a:t>:	Index register: Any, </a:t>
            </a:r>
            <a:r>
              <a:rPr lang="en-US" dirty="0">
                <a:solidFill>
                  <a:srgbClr val="FF0000"/>
                </a:solidFill>
              </a:rPr>
              <a:t>except for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%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rsp</a:t>
            </a:r>
            <a:endParaRPr lang="en-US" b="1" dirty="0">
              <a:solidFill>
                <a:srgbClr val="FF0000"/>
              </a:solidFill>
              <a:latin typeface="Courier New" pitchFamily="49" charset="0"/>
            </a:endParaRP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S: 	Scale: 1, 2, 4, or 8 (</a:t>
            </a:r>
            <a:r>
              <a:rPr lang="en-US" i="1" dirty="0">
                <a:solidFill>
                  <a:srgbClr val="C00000"/>
                </a:solidFill>
              </a:rPr>
              <a:t>why these numbers?</a:t>
            </a:r>
            <a:r>
              <a:rPr lang="en-US" dirty="0"/>
              <a:t>)</a:t>
            </a:r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endParaRPr lang="en-US" dirty="0"/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Special Cases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]+D]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47699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/>
          </p:nvPr>
        </p:nvGraphicFramePr>
        <p:xfrm>
          <a:off x="1050585" y="388620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/>
          </p:nvPr>
        </p:nvGraphicFramePr>
        <p:xfrm>
          <a:off x="1050585" y="389382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2*0xf000 + 0x80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0x1e080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/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0x0100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 bwMode="auto">
          <a:xfrm>
            <a:off x="3769360" y="4485640"/>
            <a:ext cx="2138680" cy="33528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769360" y="4983480"/>
            <a:ext cx="2286000" cy="33528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769360" y="5445760"/>
            <a:ext cx="2489200" cy="33528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769360" y="6009640"/>
            <a:ext cx="2489200" cy="33528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522720" y="4485640"/>
            <a:ext cx="1426391" cy="33528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6522720" y="4983480"/>
            <a:ext cx="1426391" cy="33528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522720" y="5445760"/>
            <a:ext cx="1426391" cy="33528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6522720" y="6009640"/>
            <a:ext cx="1426391" cy="33528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6" t="9117" r="10091" b="55770"/>
          <a:stretch/>
        </p:blipFill>
        <p:spPr bwMode="auto">
          <a:xfrm>
            <a:off x="3703442" y="1431307"/>
            <a:ext cx="5308539" cy="1466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577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489084"/>
              </p:ext>
            </p:extLst>
          </p:nvPr>
        </p:nvGraphicFramePr>
        <p:xfrm>
          <a:off x="1050585" y="388620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75691"/>
              </p:ext>
            </p:extLst>
          </p:nvPr>
        </p:nvGraphicFramePr>
        <p:xfrm>
          <a:off x="1050585" y="389382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2*0xf000 + 0x80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0x1e080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74501"/>
              </p:ext>
            </p:extLst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0x0100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70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/>
              <a:t>Arithmetic &amp; logical operations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1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Address Computation Instruction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leaq</a:t>
            </a:r>
            <a:r>
              <a:rPr lang="en-US" dirty="0"/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r>
              <a:rPr lang="en-US" dirty="0"/>
              <a:t>,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Dst</a:t>
            </a:r>
            <a:endParaRPr lang="en-US" dirty="0"/>
          </a:p>
          <a:p>
            <a:pPr marL="552450" lvl="1"/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/>
              <a:t> is address mode expression</a:t>
            </a:r>
          </a:p>
          <a:p>
            <a:pPr marL="552450" lvl="1"/>
            <a:r>
              <a:rPr lang="en-US" dirty="0"/>
              <a:t>Set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Dst</a:t>
            </a:r>
            <a:r>
              <a:rPr lang="en-US" dirty="0"/>
              <a:t> to address denoted by expression</a:t>
            </a:r>
          </a:p>
          <a:p>
            <a:pPr>
              <a:spcBef>
                <a:spcPts val="2800"/>
              </a:spcBef>
            </a:pPr>
            <a:r>
              <a:rPr lang="en-US" dirty="0"/>
              <a:t>Uses</a:t>
            </a:r>
          </a:p>
          <a:p>
            <a:pPr marL="552450" lvl="1"/>
            <a:r>
              <a:rPr lang="en-US" dirty="0"/>
              <a:t>Computing addresses without a memory reference</a:t>
            </a:r>
          </a:p>
          <a:p>
            <a:pPr marL="838200" lvl="2"/>
            <a:r>
              <a:rPr lang="en-US" dirty="0"/>
              <a:t>E.g., translation of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p = &amp;x[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];</a:t>
            </a:r>
            <a:endParaRPr lang="en-US" dirty="0"/>
          </a:p>
          <a:p>
            <a:pPr marL="552450" lvl="1"/>
            <a:r>
              <a:rPr lang="en-US" dirty="0"/>
              <a:t>Computing arithmetic expressions of the form x + k*y</a:t>
            </a:r>
          </a:p>
          <a:p>
            <a:pPr marL="838200" lvl="2"/>
            <a:r>
              <a:rPr lang="en-US" dirty="0"/>
              <a:t>k = 1, 2, 4, or 8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13317" name="Rectangle 5"/>
          <p:cNvSpPr>
            <a:spLocks/>
          </p:cNvSpPr>
          <p:nvPr/>
        </p:nvSpPr>
        <p:spPr bwMode="auto">
          <a:xfrm>
            <a:off x="304800" y="5219700"/>
            <a:ext cx="2514600" cy="1346200"/>
          </a:xfrm>
          <a:prstGeom prst="rect">
            <a:avLst/>
          </a:prstGeom>
          <a:solidFill>
            <a:srgbClr val="CDF1C5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182880" tIns="0" rIns="0" bIns="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m12(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x)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x*12;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3318" name="Rectangle 6"/>
          <p:cNvSpPr>
            <a:spLocks/>
          </p:cNvSpPr>
          <p:nvPr/>
        </p:nvSpPr>
        <p:spPr bwMode="auto">
          <a:xfrm>
            <a:off x="3340100" y="5740400"/>
            <a:ext cx="5660360" cy="685800"/>
          </a:xfrm>
          <a:prstGeom prst="rect">
            <a:avLst/>
          </a:prstGeom>
          <a:solidFill>
            <a:srgbClr val="FFFF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76200" tIns="76200" rIns="76200" bIns="76200"/>
          <a:lstStyle/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leaq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(%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,%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,2), %</a:t>
            </a:r>
            <a:r>
              <a:rPr lang="en-US" sz="1800" dirty="0" err="1">
                <a:latin typeface="Courier New" charset="0"/>
                <a:cs typeface="Courier New" charset="0"/>
                <a:sym typeface="Courier New" charset="0"/>
              </a:rPr>
              <a:t>r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 # t 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=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x+2*x</a:t>
            </a:r>
            <a:endParaRPr lang="en-US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salq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$2, %</a:t>
            </a:r>
            <a:r>
              <a:rPr lang="en-US" sz="1800" dirty="0" err="1">
                <a:latin typeface="Courier New" charset="0"/>
                <a:cs typeface="Courier New" charset="0"/>
                <a:sym typeface="Courier New" charset="0"/>
              </a:rPr>
              <a:t>r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            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#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return t&lt;&lt;2</a:t>
            </a:r>
          </a:p>
        </p:txBody>
      </p:sp>
      <p:sp>
        <p:nvSpPr>
          <p:cNvPr id="13319" name="Rectangle 7"/>
          <p:cNvSpPr>
            <a:spLocks/>
          </p:cNvSpPr>
          <p:nvPr/>
        </p:nvSpPr>
        <p:spPr bwMode="auto">
          <a:xfrm>
            <a:off x="3297238" y="5295900"/>
            <a:ext cx="3949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Converted to ASM by compiler:</a:t>
            </a:r>
          </a:p>
        </p:txBody>
      </p:sp>
    </p:spTree>
    <p:extLst>
      <p:ext uri="{BB962C8B-B14F-4D97-AF65-F5344CB8AC3E}">
        <p14:creationId xmlns:p14="http://schemas.microsoft.com/office/powerpoint/2010/main" val="1890818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Some Arithmetic Operations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259715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Two Operand Instructions:</a:t>
            </a:r>
          </a:p>
          <a:p>
            <a:pPr marL="0" lvl="1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Format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Computation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+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</a:t>
            </a:r>
            <a:r>
              <a:rPr lang="en-US" dirty="0"/>
              <a:t>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*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salq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&lt;&lt;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Also called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shlq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sarq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Arithmetic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Logical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xorq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^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&amp;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orq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| </a:t>
            </a:r>
            <a:r>
              <a:rPr lang="en-US" dirty="0" err="1"/>
              <a:t>Src</a:t>
            </a:r>
            <a:endParaRPr lang="en-US" dirty="0"/>
          </a:p>
          <a:p>
            <a:pPr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/>
              <a:t>Watch out for argument order!  </a:t>
            </a:r>
            <a:r>
              <a:rPr lang="en-US" i="1" dirty="0" err="1"/>
              <a:t>Src,Dest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(Warning: Intel docs use “op </a:t>
            </a:r>
            <a:r>
              <a:rPr lang="en-US" i="1" dirty="0" err="1"/>
              <a:t>Dest,Src</a:t>
            </a:r>
            <a:r>
              <a:rPr lang="en-US" dirty="0"/>
              <a:t>”)</a:t>
            </a:r>
          </a:p>
          <a:p>
            <a:pPr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/>
              <a:t>No distinction between signed and unsigned </a:t>
            </a:r>
            <a:r>
              <a:rPr lang="en-US" dirty="0" err="1"/>
              <a:t>int</a:t>
            </a:r>
            <a:r>
              <a:rPr lang="en-US" dirty="0"/>
              <a:t> (why?)</a:t>
            </a:r>
          </a:p>
        </p:txBody>
      </p:sp>
    </p:spTree>
    <p:extLst>
      <p:ext uri="{BB962C8B-B14F-4D97-AF65-F5344CB8AC3E}">
        <p14:creationId xmlns:p14="http://schemas.microsoft.com/office/powerpoint/2010/main" val="1616640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Some Arithmetic Operations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One Operand Instructions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+ 1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decq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1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negq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notq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~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endParaRPr lang="en-US" dirty="0">
              <a:latin typeface="Calibri Italic" charset="0"/>
              <a:sym typeface="Calibri Italic" charset="0"/>
            </a:endParaRPr>
          </a:p>
          <a:p>
            <a:pPr>
              <a:spcBef>
                <a:spcPts val="3500"/>
              </a:spcBef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See book for more instructions</a:t>
            </a:r>
          </a:p>
        </p:txBody>
      </p:sp>
    </p:spTree>
    <p:extLst>
      <p:ext uri="{BB962C8B-B14F-4D97-AF65-F5344CB8AC3E}">
        <p14:creationId xmlns:p14="http://schemas.microsoft.com/office/powerpoint/2010/main" val="847024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Arithmetic Expression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86200" y="3505199"/>
            <a:ext cx="4406900" cy="2828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Interesting Instructions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leaq</a:t>
            </a:r>
            <a:r>
              <a:rPr lang="en-US" dirty="0"/>
              <a:t>: address computation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salq</a:t>
            </a:r>
            <a:r>
              <a:rPr lang="en-US" dirty="0"/>
              <a:t>: shift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imulq</a:t>
            </a:r>
            <a:r>
              <a:rPr lang="en-US" dirty="0"/>
              <a:t>: multiplication</a:t>
            </a:r>
          </a:p>
          <a:p>
            <a:pPr lvl="2" indent="-342900"/>
            <a:r>
              <a:rPr lang="en-US" dirty="0"/>
              <a:t>But, only used once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152400" y="1752600"/>
            <a:ext cx="35814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(long x, long y, long z)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t1 =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x+y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t2 = z+t1;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t3 = x+4;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t4 = y * 48;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t5 = t3 + t4;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t2 * t5;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4249737" y="1193800"/>
            <a:ext cx="4127500" cy="2463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(%rsi,%rsi,2),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salq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$4,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4(%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imulq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54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Understanding Arithmetic Expression Example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152400" y="1752600"/>
            <a:ext cx="35052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(long x, long y, long z)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t1 =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x+y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t2 = z+t1;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t3 = x+4;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t4 = y * 48;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t5 = t3 + t4;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t2 * t5;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3810000" y="1193800"/>
            <a:ext cx="5181600" cy="2463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#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# t2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(%rsi,%rsi,2),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salq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$4,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  # t4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4(%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imulq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#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362800"/>
              </p:ext>
            </p:extLst>
          </p:nvPr>
        </p:nvGraphicFramePr>
        <p:xfrm>
          <a:off x="4648200" y="3733800"/>
          <a:ext cx="3352800" cy="254508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z, t4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t1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lang="en-US" baseline="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t2</a:t>
                      </a:r>
                      <a:r>
                        <a:rPr lang="en-US" baseline="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lang="en-US" b="1" i="0" baseline="0" dirty="0" err="1">
                          <a:latin typeface="Courier New"/>
                          <a:cs typeface="Courier New"/>
                        </a:rPr>
                        <a:t>rval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rcx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t5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817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  <a:p>
            <a:r>
              <a:rPr lang="en-US" dirty="0"/>
              <a:t>C, assembly, machine code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1101725" y="2514600"/>
            <a:ext cx="72707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text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1101725" y="3655700"/>
            <a:ext cx="72707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text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828675" y="4724400"/>
            <a:ext cx="100012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binary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828675" y="5867400"/>
            <a:ext cx="100012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binary</a:t>
            </a:r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>
            <a:off x="3989388" y="2977233"/>
            <a:ext cx="0" cy="6803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4295774" y="3124200"/>
            <a:ext cx="30321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Compiler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ourier New" pitchFamily="49" charset="0"/>
              </a:rPr>
              <a:t> –</a:t>
            </a:r>
            <a:r>
              <a:rPr lang="en-US" sz="2000" dirty="0" err="1">
                <a:latin typeface="Courier New" pitchFamily="49" charset="0"/>
              </a:rPr>
              <a:t>Og</a:t>
            </a:r>
            <a:r>
              <a:rPr lang="en-US" sz="2000" dirty="0">
                <a:latin typeface="Courier New" pitchFamily="49" charset="0"/>
              </a:rPr>
              <a:t> -S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88" name="Rectangle 8"/>
          <p:cNvSpPr>
            <a:spLocks noChangeArrowheads="1"/>
          </p:cNvSpPr>
          <p:nvPr/>
        </p:nvSpPr>
        <p:spPr bwMode="auto">
          <a:xfrm>
            <a:off x="4279900" y="4191000"/>
            <a:ext cx="30480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Assembler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 </a:t>
            </a:r>
            <a:r>
              <a:rPr lang="en-US" sz="2000" dirty="0">
                <a:latin typeface="Courier New" pitchFamily="49" charset="0"/>
              </a:rPr>
              <a:t>as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89" name="Rectangle 9"/>
          <p:cNvSpPr>
            <a:spLocks noChangeArrowheads="1"/>
          </p:cNvSpPr>
          <p:nvPr/>
        </p:nvSpPr>
        <p:spPr bwMode="auto">
          <a:xfrm>
            <a:off x="4295775" y="5334000"/>
            <a:ext cx="26384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Linker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</a:t>
            </a:r>
            <a:r>
              <a:rPr lang="en-US" sz="2000" dirty="0">
                <a:latin typeface="Courier" pitchFamily="49" charset="0"/>
              </a:rPr>
              <a:t> </a:t>
            </a:r>
            <a:r>
              <a:rPr lang="en-US" sz="2000" dirty="0">
                <a:latin typeface="Courier New" pitchFamily="49" charset="0"/>
              </a:rPr>
              <a:t>ld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2373313" y="2579688"/>
            <a:ext cx="32639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 program (</a:t>
            </a:r>
            <a:r>
              <a:rPr lang="en-US" sz="2000" dirty="0">
                <a:latin typeface="Courier New" pitchFamily="49" charset="0"/>
              </a:rPr>
              <a:t>p1.c p2.c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2259013" y="3657600"/>
            <a:ext cx="34925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latin typeface="Calibri" pitchFamily="34" charset="0"/>
              </a:rPr>
              <a:t>Asm</a:t>
            </a:r>
            <a:r>
              <a:rPr lang="en-US" sz="2000" dirty="0">
                <a:latin typeface="Calibri" pitchFamily="34" charset="0"/>
              </a:rPr>
              <a:t> program (</a:t>
            </a:r>
            <a:r>
              <a:rPr lang="en-US" sz="2000" dirty="0">
                <a:latin typeface="Courier New" pitchFamily="49" charset="0"/>
              </a:rPr>
              <a:t>p1.s p2.s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2144713" y="4800600"/>
            <a:ext cx="3721100" cy="397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Object program (</a:t>
            </a:r>
            <a:r>
              <a:rPr lang="en-US" sz="2000" dirty="0">
                <a:latin typeface="Courier New" pitchFamily="49" charset="0"/>
              </a:rPr>
              <a:t>p1.o p2.o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3" name="Rectangle 13"/>
          <p:cNvSpPr>
            <a:spLocks noChangeArrowheads="1"/>
          </p:cNvSpPr>
          <p:nvPr/>
        </p:nvSpPr>
        <p:spPr bwMode="auto">
          <a:xfrm>
            <a:off x="2131219" y="5943600"/>
            <a:ext cx="3748088" cy="397545"/>
          </a:xfrm>
          <a:prstGeom prst="rect">
            <a:avLst/>
          </a:prstGeom>
          <a:solidFill>
            <a:srgbClr val="FF99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Executable program (</a:t>
            </a:r>
            <a:r>
              <a:rPr lang="en-US" sz="2000" dirty="0">
                <a:latin typeface="Courier New" pitchFamily="49" charset="0"/>
              </a:rPr>
              <a:t>p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4" name="Line 14"/>
          <p:cNvSpPr>
            <a:spLocks noChangeShapeType="1"/>
          </p:cNvSpPr>
          <p:nvPr/>
        </p:nvSpPr>
        <p:spPr bwMode="auto">
          <a:xfrm>
            <a:off x="3989388" y="4055145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5" name="Line 15"/>
          <p:cNvSpPr>
            <a:spLocks noChangeShapeType="1"/>
          </p:cNvSpPr>
          <p:nvPr/>
        </p:nvSpPr>
        <p:spPr bwMode="auto">
          <a:xfrm>
            <a:off x="3989388" y="5198145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6" name="Rectangle 16"/>
          <p:cNvSpPr>
            <a:spLocks noChangeArrowheads="1"/>
          </p:cNvSpPr>
          <p:nvPr/>
        </p:nvSpPr>
        <p:spPr bwMode="auto">
          <a:xfrm>
            <a:off x="6858000" y="4800600"/>
            <a:ext cx="2044700" cy="705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Static libraries (</a:t>
            </a:r>
            <a:r>
              <a:rPr lang="en-US" sz="2000" dirty="0">
                <a:latin typeface="Courier New" pitchFamily="49" charset="0"/>
              </a:rPr>
              <a:t>.a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7" name="Line 17"/>
          <p:cNvSpPr>
            <a:spLocks noChangeShapeType="1"/>
          </p:cNvSpPr>
          <p:nvPr/>
        </p:nvSpPr>
        <p:spPr bwMode="auto">
          <a:xfrm flipH="1">
            <a:off x="5865813" y="5334000"/>
            <a:ext cx="9906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8" name="Rectangle 18"/>
          <p:cNvSpPr>
            <a:spLocks noGrp="1" noChangeArrowheads="1"/>
          </p:cNvSpPr>
          <p:nvPr>
            <p:ph type="title"/>
          </p:nvPr>
        </p:nvSpPr>
        <p:spPr>
          <a:xfrm>
            <a:off x="381000" y="341312"/>
            <a:ext cx="6997700" cy="573088"/>
          </a:xfrm>
        </p:spPr>
        <p:txBody>
          <a:bodyPr/>
          <a:lstStyle/>
          <a:p>
            <a:r>
              <a:rPr lang="en-US"/>
              <a:t>Turning C into Object Code</a:t>
            </a:r>
          </a:p>
        </p:txBody>
      </p:sp>
      <p:sp>
        <p:nvSpPr>
          <p:cNvPr id="148499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290513" y="990600"/>
            <a:ext cx="8307387" cy="1463675"/>
          </a:xfrm>
        </p:spPr>
        <p:txBody>
          <a:bodyPr/>
          <a:lstStyle/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dirty="0"/>
              <a:t>Code in files  </a:t>
            </a:r>
            <a:r>
              <a:rPr lang="en-US" b="1" dirty="0">
                <a:latin typeface="Courier New" pitchFamily="49" charset="0"/>
              </a:rPr>
              <a:t>p1.c p2.c</a:t>
            </a:r>
            <a:endParaRPr lang="en-US" b="1" dirty="0">
              <a:latin typeface="Courier" pitchFamily="49" charset="0"/>
            </a:endParaRPr>
          </a:p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dirty="0"/>
              <a:t>Compile with command:  </a:t>
            </a:r>
            <a:r>
              <a:rPr lang="en-US" b="1" dirty="0" err="1">
                <a:latin typeface="Courier New" pitchFamily="49" charset="0"/>
              </a:rPr>
              <a:t>gcc</a:t>
            </a:r>
            <a:r>
              <a:rPr lang="en-US" b="1" dirty="0">
                <a:latin typeface="Courier New" pitchFamily="49" charset="0"/>
              </a:rPr>
              <a:t> –</a:t>
            </a:r>
            <a:r>
              <a:rPr lang="en-US" b="1" dirty="0" err="1">
                <a:latin typeface="Courier New" pitchFamily="49" charset="0"/>
              </a:rPr>
              <a:t>Og</a:t>
            </a:r>
            <a:r>
              <a:rPr lang="en-US" b="1" dirty="0">
                <a:latin typeface="Courier New" pitchFamily="49" charset="0"/>
              </a:rPr>
              <a:t> p1.c p2.c -o p</a:t>
            </a:r>
            <a:endParaRPr lang="en-US" b="1" dirty="0">
              <a:latin typeface="Courier" pitchFamily="49" charset="0"/>
            </a:endParaRP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dirty="0"/>
              <a:t>Use basic optimizations (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-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Og</a:t>
            </a:r>
            <a:r>
              <a:rPr lang="en-US" dirty="0"/>
              <a:t>) [New to recent versions of GCC]</a:t>
            </a: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dirty="0"/>
              <a:t>Put resulting binary in file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p</a:t>
            </a:r>
            <a:endParaRPr lang="en-US" b="1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34975"/>
            <a:ext cx="6845300" cy="555625"/>
          </a:xfrm>
          <a:noFill/>
          <a:ln/>
          <a:effectLst/>
        </p:spPr>
        <p:txBody>
          <a:bodyPr/>
          <a:lstStyle/>
          <a:p>
            <a:r>
              <a:rPr lang="en-US"/>
              <a:t>Compiling Into Assembly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46150"/>
            <a:ext cx="2438400" cy="363538"/>
          </a:xfrm>
          <a:noFill/>
          <a:ln/>
        </p:spPr>
        <p:txBody>
          <a:bodyPr lIns="90487" tIns="44450" rIns="90487" bIns="44450"/>
          <a:lstStyle/>
          <a:p>
            <a:pPr>
              <a:buNone/>
            </a:pPr>
            <a:r>
              <a:rPr lang="en-US" dirty="0"/>
              <a:t>C Code (</a:t>
            </a:r>
            <a:r>
              <a:rPr lang="en-US" dirty="0" err="1"/>
              <a:t>sum.c</a:t>
            </a:r>
            <a:r>
              <a:rPr lang="en-US" dirty="0"/>
              <a:t>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76200" y="1403350"/>
            <a:ext cx="4343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long plus(long x, long y); </a:t>
            </a:r>
          </a:p>
          <a:p>
            <a:pPr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</a:t>
            </a: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(long x, long y,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          long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long t = plus(x, y);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419600" y="914400"/>
            <a:ext cx="41148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Generated x86-64 Assembly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4495800" y="1395413"/>
            <a:ext cx="4195763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pushq</a:t>
            </a:r>
            <a:r>
              <a:rPr lang="en-US" sz="1800" dirty="0">
                <a:latin typeface="Courier New" pitchFamily="49" charset="0"/>
              </a:rPr>
              <a:t>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call    plus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 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popq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ret</a:t>
            </a: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454025" y="3638098"/>
            <a:ext cx="7467600" cy="341375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Obtain (on shark machine) with command</a:t>
            </a:r>
          </a:p>
          <a:p>
            <a:pPr lvl="1" algn="l">
              <a:lnSpc>
                <a:spcPct val="100000"/>
              </a:lnSpc>
              <a:spcBef>
                <a:spcPct val="50000"/>
              </a:spcBef>
            </a:pPr>
            <a:r>
              <a:rPr lang="en-US" dirty="0" err="1">
                <a:latin typeface="Courier New" pitchFamily="49" charset="0"/>
              </a:rPr>
              <a:t>gcc</a:t>
            </a:r>
            <a:r>
              <a:rPr lang="en-US" dirty="0">
                <a:latin typeface="Courier New" pitchFamily="49" charset="0"/>
              </a:rPr>
              <a:t> –</a:t>
            </a:r>
            <a:r>
              <a:rPr lang="en-US" dirty="0" err="1">
                <a:latin typeface="Courier New" pitchFamily="49" charset="0"/>
              </a:rPr>
              <a:t>Og</a:t>
            </a:r>
            <a:r>
              <a:rPr lang="en-US" dirty="0">
                <a:latin typeface="Courier New" pitchFamily="49" charset="0"/>
              </a:rPr>
              <a:t> –S </a:t>
            </a:r>
            <a:r>
              <a:rPr lang="en-US" dirty="0" err="1">
                <a:latin typeface="Courier New" pitchFamily="49" charset="0"/>
              </a:rPr>
              <a:t>sum.c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Produces file </a:t>
            </a:r>
            <a:r>
              <a:rPr lang="en-US" dirty="0" err="1">
                <a:latin typeface="Courier New" pitchFamily="49" charset="0"/>
              </a:rPr>
              <a:t>sum.s</a:t>
            </a:r>
            <a:endParaRPr lang="en-US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srgbClr val="FF0000"/>
                </a:solidFill>
                <a:latin typeface="Calibri" pitchFamily="34" charset="0"/>
              </a:rPr>
              <a:t>Warning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: Will get very different results on non-Shark machines (Andrew Linux, Mac OS-X, …) due to different versions of </a:t>
            </a:r>
            <a:r>
              <a:rPr lang="en-US" dirty="0" err="1">
                <a:solidFill>
                  <a:srgbClr val="FF0000"/>
                </a:solidFill>
                <a:latin typeface="Calibri" pitchFamily="34" charset="0"/>
              </a:rPr>
              <a:t>gcc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 and different compiler settings.</a:t>
            </a:r>
            <a:endParaRPr lang="en-US" dirty="0">
              <a:solidFill>
                <a:srgbClr val="FF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endParaRPr lang="en-US" dirty="0">
              <a:solidFill>
                <a:srgbClr val="FF0000"/>
              </a:solidFill>
              <a:latin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really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197678"/>
            <a:ext cx="7896225" cy="513644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.type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@function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.LFB35: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cfi_startproc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pushq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cfi_def_cfa_offset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16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cfi_offset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3, -16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call	plus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(%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cfi_def_cfa_offset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8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cfi_endproc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.LFE35: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.size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.-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9669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really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197678"/>
            <a:ext cx="7896225" cy="513644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.type	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@function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.LFB35: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cfi_startproc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pushq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cfi_def_cfa_offset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16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cfi_offset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3, -16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call	plus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(%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cfi_def_cfa_offset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8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cfi_endproc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.LFE35: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.size	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.-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sumstore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80543" y="945222"/>
            <a:ext cx="3524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Things that look weird and are preceded by a ‘.’ are generally directives.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659813" y="2864742"/>
            <a:ext cx="4195763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pushq</a:t>
            </a:r>
            <a:r>
              <a:rPr lang="en-US" sz="1800" dirty="0">
                <a:latin typeface="Courier New" pitchFamily="49" charset="0"/>
              </a:rPr>
              <a:t>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call    plus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 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popq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ret</a:t>
            </a:r>
          </a:p>
        </p:txBody>
      </p:sp>
    </p:spTree>
    <p:extLst>
      <p:ext uri="{BB962C8B-B14F-4D97-AF65-F5344CB8AC3E}">
        <p14:creationId xmlns:p14="http://schemas.microsoft.com/office/powerpoint/2010/main" val="13347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Data Types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548687" cy="5530850"/>
          </a:xfrm>
        </p:spPr>
        <p:txBody>
          <a:bodyPr/>
          <a:lstStyle/>
          <a:p>
            <a:r>
              <a:rPr lang="en-US" dirty="0"/>
              <a:t>“Integer” data of 1, 2, 4, or 8 bytes</a:t>
            </a:r>
          </a:p>
          <a:p>
            <a:pPr lvl="1"/>
            <a:r>
              <a:rPr lang="en-US" dirty="0"/>
              <a:t>Data values</a:t>
            </a:r>
          </a:p>
          <a:p>
            <a:pPr lvl="1"/>
            <a:r>
              <a:rPr lang="en-US" dirty="0"/>
              <a:t>Addresses (</a:t>
            </a:r>
            <a:r>
              <a:rPr lang="en-US" dirty="0" err="1"/>
              <a:t>untyped</a:t>
            </a:r>
            <a:r>
              <a:rPr lang="en-US" dirty="0"/>
              <a:t> pointers)</a:t>
            </a:r>
          </a:p>
          <a:p>
            <a:endParaRPr lang="en-US" dirty="0"/>
          </a:p>
          <a:p>
            <a:r>
              <a:rPr lang="en-US" dirty="0"/>
              <a:t>Floating point data of 4, 8, or 10 bytes</a:t>
            </a:r>
          </a:p>
          <a:p>
            <a:endParaRPr lang="en-US" dirty="0"/>
          </a:p>
          <a:p>
            <a:r>
              <a:rPr lang="en-US" dirty="0"/>
              <a:t>(SIMD vector data types of 8, 16, 32 or 64 bytes)</a:t>
            </a:r>
          </a:p>
          <a:p>
            <a:endParaRPr lang="en-US" dirty="0"/>
          </a:p>
          <a:p>
            <a:r>
              <a:rPr lang="en-US" dirty="0"/>
              <a:t>Code: Byte sequences encoding series of instructions</a:t>
            </a:r>
          </a:p>
          <a:p>
            <a:endParaRPr lang="en-US" dirty="0"/>
          </a:p>
          <a:p>
            <a:r>
              <a:rPr lang="en-US" dirty="0"/>
              <a:t>No aggregate types such as arrays or structures</a:t>
            </a:r>
          </a:p>
          <a:p>
            <a:pPr lvl="1"/>
            <a:r>
              <a:rPr lang="en-US" dirty="0"/>
              <a:t>Just contiguously allocated bytes in memory</a:t>
            </a:r>
          </a:p>
        </p:txBody>
      </p:sp>
    </p:spTree>
    <p:extLst>
      <p:ext uri="{BB962C8B-B14F-4D97-AF65-F5344CB8AC3E}">
        <p14:creationId xmlns:p14="http://schemas.microsoft.com/office/powerpoint/2010/main" val="29339622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Operations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327150"/>
            <a:ext cx="8548687" cy="4921250"/>
          </a:xfrm>
        </p:spPr>
        <p:txBody>
          <a:bodyPr/>
          <a:lstStyle/>
          <a:p>
            <a:r>
              <a:rPr lang="en-US" dirty="0"/>
              <a:t>Transfer data between memory and register</a:t>
            </a:r>
          </a:p>
          <a:p>
            <a:pPr lvl="1"/>
            <a:r>
              <a:rPr lang="en-US" dirty="0"/>
              <a:t>Load data from memory into register</a:t>
            </a:r>
          </a:p>
          <a:p>
            <a:pPr lvl="1"/>
            <a:r>
              <a:rPr lang="en-US" dirty="0"/>
              <a:t>Store register data into memory</a:t>
            </a:r>
          </a:p>
          <a:p>
            <a:endParaRPr lang="en-US" dirty="0"/>
          </a:p>
          <a:p>
            <a:r>
              <a:rPr lang="en-US" dirty="0"/>
              <a:t>Perform arithmetic function on register or memory data</a:t>
            </a:r>
          </a:p>
          <a:p>
            <a:endParaRPr lang="en-US" dirty="0"/>
          </a:p>
          <a:p>
            <a:r>
              <a:rPr lang="en-US" dirty="0"/>
              <a:t>Transfer control</a:t>
            </a:r>
          </a:p>
          <a:p>
            <a:pPr lvl="1"/>
            <a:r>
              <a:rPr lang="en-US" dirty="0"/>
              <a:t>Unconditional jumps to/from procedures</a:t>
            </a:r>
          </a:p>
          <a:p>
            <a:pPr lvl="1"/>
            <a:r>
              <a:rPr lang="en-US" dirty="0"/>
              <a:t>Conditional branches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342900" y="914400"/>
            <a:ext cx="30099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Code for </a:t>
            </a:r>
            <a:r>
              <a:rPr lang="en-US" sz="2400" dirty="0" err="1">
                <a:latin typeface="Courier New" pitchFamily="49" charset="0"/>
              </a:rPr>
              <a:t>sumstore</a:t>
            </a: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344488" y="1447800"/>
            <a:ext cx="2511425" cy="42447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0x0400595: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0xd3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0xe8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0xf2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0x03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0x5b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0xc3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5524500" cy="573088"/>
          </a:xfrm>
        </p:spPr>
        <p:txBody>
          <a:bodyPr/>
          <a:lstStyle/>
          <a:p>
            <a:r>
              <a:rPr lang="en-US"/>
              <a:t>Object Code</a:t>
            </a:r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505200" y="1143000"/>
            <a:ext cx="5486400" cy="5486400"/>
          </a:xfrm>
        </p:spPr>
        <p:txBody>
          <a:bodyPr/>
          <a:lstStyle/>
          <a:p>
            <a:r>
              <a:rPr lang="en-US" dirty="0"/>
              <a:t>Assembler</a:t>
            </a:r>
          </a:p>
          <a:p>
            <a:pPr lvl="1"/>
            <a:r>
              <a:rPr lang="en-US" dirty="0"/>
              <a:t>Translates </a:t>
            </a:r>
            <a:r>
              <a:rPr lang="en-US" dirty="0">
                <a:latin typeface="Courier New" pitchFamily="49" charset="0"/>
              </a:rPr>
              <a:t>.s</a:t>
            </a:r>
            <a:r>
              <a:rPr lang="en-US" dirty="0"/>
              <a:t> into </a:t>
            </a:r>
            <a:r>
              <a:rPr lang="en-US" dirty="0">
                <a:latin typeface="Courier New" pitchFamily="49" charset="0"/>
              </a:rPr>
              <a:t>.o</a:t>
            </a:r>
          </a:p>
          <a:p>
            <a:pPr lvl="1"/>
            <a:r>
              <a:rPr lang="en-US" dirty="0"/>
              <a:t>Binary encoding of each instruction</a:t>
            </a:r>
          </a:p>
          <a:p>
            <a:pPr lvl="1"/>
            <a:r>
              <a:rPr lang="en-US" dirty="0"/>
              <a:t>Nearly-complete image of executable code</a:t>
            </a:r>
          </a:p>
          <a:p>
            <a:pPr lvl="1"/>
            <a:r>
              <a:rPr lang="en-US" dirty="0"/>
              <a:t>Missing linkages between code in different files</a:t>
            </a:r>
          </a:p>
          <a:p>
            <a:r>
              <a:rPr lang="en-US" dirty="0"/>
              <a:t>Linker</a:t>
            </a:r>
          </a:p>
          <a:p>
            <a:pPr lvl="1"/>
            <a:r>
              <a:rPr lang="en-US" dirty="0"/>
              <a:t>Resolves references between files</a:t>
            </a:r>
          </a:p>
          <a:p>
            <a:pPr lvl="1"/>
            <a:r>
              <a:rPr lang="en-US" dirty="0"/>
              <a:t>Combines with static run-time libraries</a:t>
            </a:r>
          </a:p>
          <a:p>
            <a:pPr lvl="2"/>
            <a:r>
              <a:rPr lang="en-US" dirty="0"/>
              <a:t>E.g., code for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malloc</a:t>
            </a:r>
            <a:r>
              <a:rPr lang="en-US" b="1" dirty="0"/>
              <a:t>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printf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pPr lvl="1"/>
            <a:r>
              <a:rPr lang="en-US" dirty="0"/>
              <a:t>Some libraries are </a:t>
            </a:r>
            <a:r>
              <a:rPr lang="en-US" i="1" dirty="0"/>
              <a:t>dynamically linked</a:t>
            </a:r>
          </a:p>
          <a:p>
            <a:pPr lvl="2"/>
            <a:r>
              <a:rPr lang="en-US" dirty="0"/>
              <a:t>Linking occurs when program begins execution</a:t>
            </a:r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1295400" y="4038600"/>
            <a:ext cx="2362200" cy="190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Total of 14 bytes</a:t>
            </a:r>
          </a:p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Each instruction 1, 3, or 5 bytes</a:t>
            </a:r>
          </a:p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Starts at address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0x0400595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264400" cy="573088"/>
          </a:xfrm>
        </p:spPr>
        <p:txBody>
          <a:bodyPr/>
          <a:lstStyle/>
          <a:p>
            <a:r>
              <a:rPr lang="en-US"/>
              <a:t>Machine Instruction Example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838200"/>
            <a:ext cx="4572000" cy="5791200"/>
          </a:xfrm>
        </p:spPr>
        <p:txBody>
          <a:bodyPr/>
          <a:lstStyle/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C Code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Store value </a:t>
            </a:r>
            <a:r>
              <a:rPr lang="en-US" b="1" dirty="0">
                <a:latin typeface="Courier New"/>
                <a:cs typeface="Courier New"/>
              </a:rPr>
              <a:t>t</a:t>
            </a:r>
            <a:r>
              <a:rPr lang="en-US" dirty="0"/>
              <a:t> where designated by </a:t>
            </a:r>
            <a:r>
              <a:rPr lang="en-US" b="1" dirty="0" err="1">
                <a:latin typeface="Courier New"/>
                <a:cs typeface="Courier New"/>
              </a:rPr>
              <a:t>dest</a:t>
            </a:r>
            <a:endParaRPr lang="en-US" b="1" dirty="0">
              <a:latin typeface="Courier New"/>
              <a:cs typeface="Courier New"/>
            </a:endParaRPr>
          </a:p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Assembly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Move 8-byte value to memory</a:t>
            </a:r>
          </a:p>
          <a:p>
            <a:pPr marL="839788" lvl="2" indent="-165100" defTabSz="895350">
              <a:tabLst>
                <a:tab pos="1603375" algn="l"/>
                <a:tab pos="2514600" algn="l"/>
              </a:tabLst>
            </a:pPr>
            <a:r>
              <a:rPr lang="en-US" dirty="0"/>
              <a:t>Quad words in x86-64 parlance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Operands:</a:t>
            </a:r>
          </a:p>
          <a:p>
            <a:pPr marL="839788" lvl="2" indent="-165100" defTabSz="895350">
              <a:buNone/>
              <a:tabLst>
                <a:tab pos="1603375" algn="l"/>
                <a:tab pos="2514600" algn="l"/>
              </a:tabLst>
            </a:pPr>
            <a:r>
              <a:rPr lang="en-US" b="1" dirty="0">
                <a:latin typeface="Courier New" pitchFamily="49" charset="0"/>
              </a:rPr>
              <a:t>t</a:t>
            </a:r>
            <a:r>
              <a:rPr lang="en-US" b="1" dirty="0"/>
              <a:t>:	</a:t>
            </a:r>
            <a:r>
              <a:rPr lang="en-US" dirty="0"/>
              <a:t>Register	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rax</a:t>
            </a:r>
            <a:endParaRPr lang="en-US" b="1" dirty="0">
              <a:latin typeface="Courier New" pitchFamily="49" charset="0"/>
            </a:endParaRPr>
          </a:p>
          <a:p>
            <a:pPr marL="839788" lvl="2" indent="-165100" defTabSz="895350">
              <a:buFont typeface="Wingdings" pitchFamily="2" charset="2"/>
              <a:buNone/>
              <a:tabLst>
                <a:tab pos="1603375" algn="l"/>
                <a:tab pos="2514600" algn="l"/>
              </a:tabLst>
            </a:pPr>
            <a:r>
              <a:rPr lang="en-US" b="1" dirty="0" err="1">
                <a:latin typeface="Courier New" pitchFamily="49" charset="0"/>
              </a:rPr>
              <a:t>dest</a:t>
            </a:r>
            <a:r>
              <a:rPr lang="en-US" b="1" dirty="0"/>
              <a:t>:</a:t>
            </a:r>
            <a:r>
              <a:rPr lang="en-US" dirty="0"/>
              <a:t>	Register	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rbx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pPr marL="839788" lvl="2" indent="-165100" defTabSz="895350">
              <a:buFont typeface="Wingdings" pitchFamily="2" charset="2"/>
              <a:buNone/>
              <a:tabLst>
                <a:tab pos="1603375" algn="l"/>
                <a:tab pos="2514600" algn="l"/>
              </a:tabLst>
            </a:pPr>
            <a:r>
              <a:rPr lang="en-US" b="1" dirty="0">
                <a:latin typeface="Courier New" pitchFamily="49" charset="0"/>
              </a:rPr>
              <a:t>*</a:t>
            </a:r>
            <a:r>
              <a:rPr lang="en-US" b="1" dirty="0" err="1">
                <a:latin typeface="Courier New" pitchFamily="49" charset="0"/>
              </a:rPr>
              <a:t>dest</a:t>
            </a:r>
            <a:r>
              <a:rPr lang="en-US" b="1" dirty="0"/>
              <a:t>:</a:t>
            </a:r>
            <a:r>
              <a:rPr lang="en-US" dirty="0"/>
              <a:t> 	Memory	</a:t>
            </a:r>
            <a:r>
              <a:rPr lang="en-US" b="1" dirty="0"/>
              <a:t>M[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rbx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]</a:t>
            </a:r>
            <a:endParaRPr lang="en-US" b="1" dirty="0"/>
          </a:p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Object Code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3-byte instruction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Stored at address </a:t>
            </a:r>
            <a:r>
              <a:rPr lang="en-US" b="1" dirty="0">
                <a:latin typeface="Courier New" pitchFamily="49" charset="0"/>
              </a:rPr>
              <a:t>0x40059e</a:t>
            </a: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533400" y="1143000"/>
            <a:ext cx="3883025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t;</a:t>
            </a:r>
          </a:p>
        </p:txBody>
      </p:sp>
      <p:sp>
        <p:nvSpPr>
          <p:cNvPr id="152581" name="Rectangle 5"/>
          <p:cNvSpPr>
            <a:spLocks noChangeArrowheads="1"/>
          </p:cNvSpPr>
          <p:nvPr/>
        </p:nvSpPr>
        <p:spPr bwMode="auto">
          <a:xfrm>
            <a:off x="533400" y="2286000"/>
            <a:ext cx="3886200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549400" algn="l"/>
              </a:tabLst>
            </a:pP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 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</p:txBody>
      </p:sp>
      <p:sp>
        <p:nvSpPr>
          <p:cNvPr id="152582" name="Rectangle 6"/>
          <p:cNvSpPr>
            <a:spLocks noChangeArrowheads="1"/>
          </p:cNvSpPr>
          <p:nvPr/>
        </p:nvSpPr>
        <p:spPr bwMode="auto">
          <a:xfrm>
            <a:off x="530225" y="4912519"/>
            <a:ext cx="3886200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292100" algn="l"/>
              </a:tabLst>
            </a:pPr>
            <a:r>
              <a:rPr lang="en-US" sz="1800" dirty="0">
                <a:latin typeface="Courier New" pitchFamily="49" charset="0"/>
              </a:rPr>
              <a:t>0x40059e:  48 89 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901700" y="1035050"/>
            <a:ext cx="26035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Disassembled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819900" cy="573088"/>
          </a:xfrm>
        </p:spPr>
        <p:txBody>
          <a:bodyPr/>
          <a:lstStyle/>
          <a:p>
            <a:r>
              <a:rPr lang="en-US"/>
              <a:t>Disassembling Object Code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4114800"/>
            <a:ext cx="8140700" cy="2249488"/>
          </a:xfrm>
        </p:spPr>
        <p:txBody>
          <a:bodyPr/>
          <a:lstStyle/>
          <a:p>
            <a:r>
              <a:rPr lang="en-US" dirty="0" err="1"/>
              <a:t>Disassembler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objdump</a:t>
            </a:r>
            <a:r>
              <a:rPr lang="en-US" b="1" dirty="0">
                <a:latin typeface="Courier New" pitchFamily="49" charset="0"/>
              </a:rPr>
              <a:t> –d sum</a:t>
            </a:r>
          </a:p>
          <a:p>
            <a:pPr lvl="1"/>
            <a:r>
              <a:rPr lang="en-US" dirty="0"/>
              <a:t>Useful tool for examining object code</a:t>
            </a:r>
          </a:p>
          <a:p>
            <a:pPr lvl="1"/>
            <a:r>
              <a:rPr lang="en-US" dirty="0"/>
              <a:t>Analyzes bit pattern of series of instructions</a:t>
            </a:r>
          </a:p>
          <a:p>
            <a:pPr lvl="1"/>
            <a:r>
              <a:rPr lang="en-US" dirty="0"/>
              <a:t>Produces approximate rendition of assembly code</a:t>
            </a:r>
          </a:p>
          <a:p>
            <a:pPr lvl="1"/>
            <a:r>
              <a:rPr lang="en-US" dirty="0"/>
              <a:t>Can be run on either </a:t>
            </a:r>
            <a:r>
              <a:rPr lang="en-US" dirty="0" err="1">
                <a:latin typeface="Courier New" pitchFamily="49" charset="0"/>
              </a:rPr>
              <a:t>a.out</a:t>
            </a:r>
            <a:r>
              <a:rPr lang="en-US" dirty="0"/>
              <a:t> (complete executable) or </a:t>
            </a:r>
            <a:r>
              <a:rPr lang="en-US" dirty="0">
                <a:latin typeface="Courier New" pitchFamily="49" charset="0"/>
              </a:rPr>
              <a:t>.o</a:t>
            </a:r>
            <a:r>
              <a:rPr lang="en-US" dirty="0"/>
              <a:t> file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04900" y="1628839"/>
            <a:ext cx="7493000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0000000000400595 &lt;</a:t>
            </a: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&gt;: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400595:  53               push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400596:  48 89 d3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400599:  e8 f2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callq</a:t>
            </a:r>
            <a:r>
              <a:rPr lang="en-US" sz="1800" dirty="0">
                <a:latin typeface="Courier New" pitchFamily="49" charset="0"/>
              </a:rPr>
              <a:t>  400590 &lt;plus&gt;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40059e:  48 89 03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4005a1:  5b               pop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4005a2:  c3               </a:t>
            </a:r>
            <a:r>
              <a:rPr lang="en-US" sz="1800" dirty="0" err="1">
                <a:latin typeface="Courier New" pitchFamily="49" charset="0"/>
              </a:rPr>
              <a:t>retq</a:t>
            </a:r>
            <a:endParaRPr lang="en-US" sz="1800" dirty="0">
              <a:latin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297113" y="914400"/>
            <a:ext cx="6846887" cy="2819400"/>
            <a:chOff x="2297113" y="914400"/>
            <a:chExt cx="6846887" cy="2819400"/>
          </a:xfrm>
        </p:grpSpPr>
        <p:sp>
          <p:nvSpPr>
            <p:cNvPr id="154626" name="Rectangle 2"/>
            <p:cNvSpPr>
              <a:spLocks noChangeArrowheads="1"/>
            </p:cNvSpPr>
            <p:nvPr/>
          </p:nvSpPr>
          <p:spPr bwMode="auto">
            <a:xfrm>
              <a:off x="4191000" y="914400"/>
              <a:ext cx="2603500" cy="4127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7" tIns="44450" rIns="90487" bIns="44450"/>
            <a:lstStyle/>
            <a:p>
              <a:pPr marL="223838" indent="-223838" algn="l" defTabSz="895350">
                <a:spcBef>
                  <a:spcPct val="30000"/>
                </a:spcBef>
              </a:pPr>
              <a:r>
                <a:rPr lang="en-US" sz="2400" dirty="0">
                  <a:solidFill>
                    <a:schemeClr val="tx2"/>
                  </a:solidFill>
                  <a:latin typeface="Calibri" pitchFamily="34" charset="0"/>
                </a:rPr>
                <a:t>Disassembled</a:t>
              </a:r>
            </a:p>
            <a:p>
              <a:pPr marL="223838" indent="-223838" defTabSz="895350">
                <a:lnSpc>
                  <a:spcPct val="100000"/>
                </a:lnSpc>
              </a:pPr>
              <a:endParaRPr lang="en-US" sz="2400" dirty="0">
                <a:solidFill>
                  <a:schemeClr val="tx2"/>
                </a:solidFill>
                <a:latin typeface="Calibri" pitchFamily="34" charset="0"/>
              </a:endParaRPr>
            </a:p>
          </p:txBody>
        </p:sp>
        <p:sp>
          <p:nvSpPr>
            <p:cNvPr id="154627" name="Rectangle 3"/>
            <p:cNvSpPr>
              <a:spLocks noChangeArrowheads="1"/>
            </p:cNvSpPr>
            <p:nvPr/>
          </p:nvSpPr>
          <p:spPr bwMode="auto">
            <a:xfrm>
              <a:off x="2297113" y="1705039"/>
              <a:ext cx="6846887" cy="2028761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90487" tIns="44450" rIns="90487" bIns="44450">
              <a:spAutoFit/>
            </a:bodyPr>
            <a:lstStyle/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Dump of assembler code for function </a:t>
              </a:r>
              <a:r>
                <a:rPr lang="en-US" sz="1800" dirty="0" err="1">
                  <a:latin typeface="Courier New" pitchFamily="49" charset="0"/>
                </a:rPr>
                <a:t>sumstore</a:t>
              </a:r>
              <a:r>
                <a:rPr lang="en-US" sz="1800" dirty="0">
                  <a:latin typeface="Courier New" pitchFamily="49" charset="0"/>
                </a:rPr>
                <a:t>: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0x0000000000400595 &lt;+0&gt;: push   %</a:t>
              </a:r>
              <a:r>
                <a:rPr lang="en-US" sz="1800" dirty="0" err="1">
                  <a:latin typeface="Courier New" pitchFamily="49" charset="0"/>
                </a:rPr>
                <a:t>rbx</a:t>
              </a:r>
              <a:endParaRPr lang="en-US" sz="1800" dirty="0">
                <a:latin typeface="Courier New" pitchFamily="49" charset="0"/>
              </a:endParaRP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0x0000000000400596 &lt;+1&gt;: </a:t>
              </a:r>
              <a:r>
                <a:rPr lang="en-US" sz="1800" dirty="0" err="1">
                  <a:latin typeface="Courier New" pitchFamily="49" charset="0"/>
                </a:rPr>
                <a:t>mov</a:t>
              </a:r>
              <a:r>
                <a:rPr lang="en-US" sz="1800" dirty="0">
                  <a:latin typeface="Courier New" pitchFamily="49" charset="0"/>
                </a:rPr>
                <a:t>    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r>
                <a:rPr lang="en-US" sz="1800" dirty="0">
                  <a:latin typeface="Courier New" pitchFamily="49" charset="0"/>
                </a:rPr>
                <a:t>,%</a:t>
              </a:r>
              <a:r>
                <a:rPr lang="en-US" sz="1800" dirty="0" err="1">
                  <a:latin typeface="Courier New" pitchFamily="49" charset="0"/>
                </a:rPr>
                <a:t>rbx</a:t>
              </a:r>
              <a:endParaRPr lang="en-US" sz="1800" dirty="0">
                <a:latin typeface="Courier New" pitchFamily="49" charset="0"/>
              </a:endParaRP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0x0000000000400599 &lt;+4&gt;: </a:t>
              </a:r>
              <a:r>
                <a:rPr lang="en-US" sz="1800" dirty="0" err="1">
                  <a:latin typeface="Courier New" pitchFamily="49" charset="0"/>
                </a:rPr>
                <a:t>callq</a:t>
              </a:r>
              <a:r>
                <a:rPr lang="en-US" sz="1800" dirty="0">
                  <a:latin typeface="Courier New" pitchFamily="49" charset="0"/>
                </a:rPr>
                <a:t>  0x400590 &lt;plus&gt;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0x000000000040059e &lt;+9&gt;: </a:t>
              </a:r>
              <a:r>
                <a:rPr lang="en-US" sz="1800" dirty="0" err="1">
                  <a:latin typeface="Courier New" pitchFamily="49" charset="0"/>
                </a:rPr>
                <a:t>mov</a:t>
              </a:r>
              <a:r>
                <a:rPr lang="en-US" sz="1800" dirty="0">
                  <a:latin typeface="Courier New" pitchFamily="49" charset="0"/>
                </a:rPr>
                <a:t>    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r>
                <a:rPr lang="en-US" sz="1800" dirty="0">
                  <a:latin typeface="Courier New" pitchFamily="49" charset="0"/>
                </a:rPr>
                <a:t>,(%</a:t>
              </a:r>
              <a:r>
                <a:rPr lang="en-US" sz="1800" dirty="0" err="1">
                  <a:latin typeface="Courier New" pitchFamily="49" charset="0"/>
                </a:rPr>
                <a:t>rbx</a:t>
              </a:r>
              <a:r>
                <a:rPr lang="en-US" sz="1800" dirty="0">
                  <a:latin typeface="Courier New" pitchFamily="49" charset="0"/>
                </a:rPr>
                <a:t>)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0x00000000004005a1 &lt;+12&gt;:pop    %</a:t>
              </a:r>
              <a:r>
                <a:rPr lang="en-US" sz="1800" dirty="0" err="1">
                  <a:latin typeface="Courier New" pitchFamily="49" charset="0"/>
                </a:rPr>
                <a:t>rbx</a:t>
              </a:r>
              <a:endParaRPr lang="en-US" sz="1800" dirty="0">
                <a:latin typeface="Courier New" pitchFamily="49" charset="0"/>
              </a:endParaRP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0x00000000004005a2 &lt;+13&gt;:</a:t>
              </a:r>
              <a:r>
                <a:rPr lang="en-US" sz="1800" dirty="0" err="1">
                  <a:latin typeface="Courier New" pitchFamily="49" charset="0"/>
                </a:rPr>
                <a:t>retq</a:t>
              </a:r>
              <a:r>
                <a:rPr lang="en-US" sz="1800" dirty="0">
                  <a:latin typeface="Courier New" pitchFamily="49" charset="0"/>
                </a:rPr>
                <a:t> </a:t>
              </a:r>
              <a:endParaRPr lang="en-US" sz="1800" i="1" dirty="0">
                <a:latin typeface="Courier New" pitchFamily="49" charset="0"/>
              </a:endParaRPr>
            </a:p>
          </p:txBody>
        </p:sp>
      </p:grpSp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417512"/>
            <a:ext cx="6248400" cy="573088"/>
          </a:xfrm>
        </p:spPr>
        <p:txBody>
          <a:bodyPr/>
          <a:lstStyle/>
          <a:p>
            <a:r>
              <a:rPr lang="en-US"/>
              <a:t>Alternate Disassembly</a:t>
            </a:r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97113" y="4195763"/>
            <a:ext cx="6300787" cy="2249487"/>
          </a:xfrm>
        </p:spPr>
        <p:txBody>
          <a:bodyPr/>
          <a:lstStyle/>
          <a:p>
            <a:r>
              <a:rPr lang="en-US" dirty="0"/>
              <a:t>Within </a:t>
            </a:r>
            <a:r>
              <a:rPr lang="en-US" dirty="0" err="1"/>
              <a:t>gdb</a:t>
            </a:r>
            <a:r>
              <a:rPr lang="en-US" dirty="0"/>
              <a:t> Debugger</a:t>
            </a:r>
          </a:p>
          <a:p>
            <a:pPr lvl="1"/>
            <a:r>
              <a:rPr lang="en-US" dirty="0"/>
              <a:t>Disassemble procedure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gdb</a:t>
            </a:r>
            <a:r>
              <a:rPr lang="en-US" b="1" dirty="0">
                <a:latin typeface="Courier New" pitchFamily="49" charset="0"/>
              </a:rPr>
              <a:t> sum</a:t>
            </a:r>
          </a:p>
          <a:p>
            <a:pPr lvl="1"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disassemble </a:t>
            </a:r>
            <a:r>
              <a:rPr lang="en-US" b="1" dirty="0" err="1">
                <a:latin typeface="Courier New" pitchFamily="49" charset="0"/>
              </a:rPr>
              <a:t>sumstore</a:t>
            </a:r>
            <a:endParaRPr lang="en-US" b="1" dirty="0">
              <a:latin typeface="Courier New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4847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297113" y="914400"/>
            <a:ext cx="6846887" cy="2819400"/>
            <a:chOff x="2297113" y="914400"/>
            <a:chExt cx="6846887" cy="2819400"/>
          </a:xfrm>
        </p:grpSpPr>
        <p:sp>
          <p:nvSpPr>
            <p:cNvPr id="154626" name="Rectangle 2"/>
            <p:cNvSpPr>
              <a:spLocks noChangeArrowheads="1"/>
            </p:cNvSpPr>
            <p:nvPr/>
          </p:nvSpPr>
          <p:spPr bwMode="auto">
            <a:xfrm>
              <a:off x="4191000" y="914400"/>
              <a:ext cx="2603500" cy="4127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7" tIns="44450" rIns="90487" bIns="44450"/>
            <a:lstStyle/>
            <a:p>
              <a:pPr marL="223838" indent="-223838" algn="l" defTabSz="895350">
                <a:spcBef>
                  <a:spcPct val="30000"/>
                </a:spcBef>
              </a:pPr>
              <a:r>
                <a:rPr lang="en-US" sz="2400" dirty="0">
                  <a:solidFill>
                    <a:schemeClr val="tx2"/>
                  </a:solidFill>
                  <a:latin typeface="Calibri" pitchFamily="34" charset="0"/>
                </a:rPr>
                <a:t>Disassembled</a:t>
              </a:r>
            </a:p>
            <a:p>
              <a:pPr marL="223838" indent="-223838" defTabSz="895350">
                <a:lnSpc>
                  <a:spcPct val="100000"/>
                </a:lnSpc>
              </a:pPr>
              <a:endParaRPr lang="en-US" sz="2400" dirty="0">
                <a:solidFill>
                  <a:schemeClr val="tx2"/>
                </a:solidFill>
                <a:latin typeface="Calibri" pitchFamily="34" charset="0"/>
              </a:endParaRPr>
            </a:p>
          </p:txBody>
        </p:sp>
        <p:sp>
          <p:nvSpPr>
            <p:cNvPr id="154627" name="Rectangle 3"/>
            <p:cNvSpPr>
              <a:spLocks noChangeArrowheads="1"/>
            </p:cNvSpPr>
            <p:nvPr/>
          </p:nvSpPr>
          <p:spPr bwMode="auto">
            <a:xfrm>
              <a:off x="2297113" y="1705039"/>
              <a:ext cx="6846887" cy="2028761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90487" tIns="44450" rIns="90487" bIns="44450">
              <a:spAutoFit/>
            </a:bodyPr>
            <a:lstStyle/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Dump of assembler code for function </a:t>
              </a:r>
              <a:r>
                <a:rPr lang="en-US" sz="1800" dirty="0" err="1">
                  <a:latin typeface="Courier New" pitchFamily="49" charset="0"/>
                </a:rPr>
                <a:t>sumstore</a:t>
              </a:r>
              <a:r>
                <a:rPr lang="en-US" sz="1800" dirty="0">
                  <a:latin typeface="Courier New" pitchFamily="49" charset="0"/>
                </a:rPr>
                <a:t>: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0x0000000000400595 &lt;+0&gt;: push   %</a:t>
              </a:r>
              <a:r>
                <a:rPr lang="en-US" sz="1800" dirty="0" err="1">
                  <a:latin typeface="Courier New" pitchFamily="49" charset="0"/>
                </a:rPr>
                <a:t>rbx</a:t>
              </a:r>
              <a:endParaRPr lang="en-US" sz="1800" dirty="0">
                <a:latin typeface="Courier New" pitchFamily="49" charset="0"/>
              </a:endParaRP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0x0000000000400596 &lt;+1&gt;: </a:t>
              </a:r>
              <a:r>
                <a:rPr lang="en-US" sz="1800" dirty="0" err="1">
                  <a:latin typeface="Courier New" pitchFamily="49" charset="0"/>
                </a:rPr>
                <a:t>mov</a:t>
              </a:r>
              <a:r>
                <a:rPr lang="en-US" sz="1800" dirty="0">
                  <a:latin typeface="Courier New" pitchFamily="49" charset="0"/>
                </a:rPr>
                <a:t>    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r>
                <a:rPr lang="en-US" sz="1800" dirty="0">
                  <a:latin typeface="Courier New" pitchFamily="49" charset="0"/>
                </a:rPr>
                <a:t>,%</a:t>
              </a:r>
              <a:r>
                <a:rPr lang="en-US" sz="1800" dirty="0" err="1">
                  <a:latin typeface="Courier New" pitchFamily="49" charset="0"/>
                </a:rPr>
                <a:t>rbx</a:t>
              </a:r>
              <a:endParaRPr lang="en-US" sz="1800" dirty="0">
                <a:latin typeface="Courier New" pitchFamily="49" charset="0"/>
              </a:endParaRP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0x0000000000400599 &lt;+4&gt;: </a:t>
              </a:r>
              <a:r>
                <a:rPr lang="en-US" sz="1800" dirty="0" err="1">
                  <a:latin typeface="Courier New" pitchFamily="49" charset="0"/>
                </a:rPr>
                <a:t>callq</a:t>
              </a:r>
              <a:r>
                <a:rPr lang="en-US" sz="1800" dirty="0">
                  <a:latin typeface="Courier New" pitchFamily="49" charset="0"/>
                </a:rPr>
                <a:t>  0x400590 &lt;plus&gt;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0x000000000040059e &lt;+9&gt;: </a:t>
              </a:r>
              <a:r>
                <a:rPr lang="en-US" sz="1800" dirty="0" err="1">
                  <a:latin typeface="Courier New" pitchFamily="49" charset="0"/>
                </a:rPr>
                <a:t>mov</a:t>
              </a:r>
              <a:r>
                <a:rPr lang="en-US" sz="1800" dirty="0">
                  <a:latin typeface="Courier New" pitchFamily="49" charset="0"/>
                </a:rPr>
                <a:t>    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r>
                <a:rPr lang="en-US" sz="1800" dirty="0">
                  <a:latin typeface="Courier New" pitchFamily="49" charset="0"/>
                </a:rPr>
                <a:t>,(%</a:t>
              </a:r>
              <a:r>
                <a:rPr lang="en-US" sz="1800" dirty="0" err="1">
                  <a:latin typeface="Courier New" pitchFamily="49" charset="0"/>
                </a:rPr>
                <a:t>rbx</a:t>
              </a:r>
              <a:r>
                <a:rPr lang="en-US" sz="1800" dirty="0">
                  <a:latin typeface="Courier New" pitchFamily="49" charset="0"/>
                </a:rPr>
                <a:t>)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0x00000000004005a1 &lt;+12&gt;:pop    %</a:t>
              </a:r>
              <a:r>
                <a:rPr lang="en-US" sz="1800" dirty="0" err="1">
                  <a:latin typeface="Courier New" pitchFamily="49" charset="0"/>
                </a:rPr>
                <a:t>rbx</a:t>
              </a:r>
              <a:endParaRPr lang="en-US" sz="1800" dirty="0">
                <a:latin typeface="Courier New" pitchFamily="49" charset="0"/>
              </a:endParaRP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0x00000000004005a2 &lt;+13&gt;:</a:t>
              </a:r>
              <a:r>
                <a:rPr lang="en-US" sz="1800" dirty="0" err="1">
                  <a:latin typeface="Courier New" pitchFamily="49" charset="0"/>
                </a:rPr>
                <a:t>retq</a:t>
              </a:r>
              <a:r>
                <a:rPr lang="en-US" sz="1800" dirty="0">
                  <a:latin typeface="Courier New" pitchFamily="49" charset="0"/>
                </a:rPr>
                <a:t> </a:t>
              </a:r>
              <a:endParaRPr lang="en-US" sz="1800" i="1" dirty="0">
                <a:latin typeface="Courier New" pitchFamily="49" charset="0"/>
              </a:endParaRPr>
            </a:p>
          </p:txBody>
        </p:sp>
      </p:grpSp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417512"/>
            <a:ext cx="6248400" cy="573088"/>
          </a:xfrm>
        </p:spPr>
        <p:txBody>
          <a:bodyPr/>
          <a:lstStyle/>
          <a:p>
            <a:r>
              <a:rPr lang="en-US"/>
              <a:t>Alternate Disassembly</a:t>
            </a:r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97113" y="4195763"/>
            <a:ext cx="6300787" cy="2249487"/>
          </a:xfrm>
        </p:spPr>
        <p:txBody>
          <a:bodyPr/>
          <a:lstStyle/>
          <a:p>
            <a:r>
              <a:rPr lang="en-US" dirty="0"/>
              <a:t>Within </a:t>
            </a:r>
            <a:r>
              <a:rPr lang="en-US" dirty="0" err="1"/>
              <a:t>gdb</a:t>
            </a:r>
            <a:r>
              <a:rPr lang="en-US" dirty="0"/>
              <a:t> Debugger</a:t>
            </a:r>
          </a:p>
          <a:p>
            <a:pPr lvl="1"/>
            <a:r>
              <a:rPr lang="en-US" dirty="0"/>
              <a:t>Disassemble procedure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gdb</a:t>
            </a:r>
            <a:r>
              <a:rPr lang="en-US" b="1" dirty="0">
                <a:latin typeface="Courier New" pitchFamily="49" charset="0"/>
              </a:rPr>
              <a:t> sum</a:t>
            </a:r>
          </a:p>
          <a:p>
            <a:pPr lvl="1"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disassemble </a:t>
            </a:r>
            <a:r>
              <a:rPr lang="en-US" b="1" dirty="0" err="1">
                <a:latin typeface="Courier New" pitchFamily="49" charset="0"/>
              </a:rPr>
              <a:t>sumstore</a:t>
            </a:r>
            <a:endParaRPr lang="en-US" b="1" dirty="0">
              <a:latin typeface="Courier New" pitchFamily="49" charset="0"/>
            </a:endParaRPr>
          </a:p>
          <a:p>
            <a:pPr lvl="1"/>
            <a:r>
              <a:rPr lang="en-US" dirty="0"/>
              <a:t>Examine the 14 bytes starting at </a:t>
            </a:r>
            <a:r>
              <a:rPr lang="en-US" dirty="0" err="1">
                <a:latin typeface="Courier New" pitchFamily="49" charset="0"/>
              </a:rPr>
              <a:t>sumstore</a:t>
            </a:r>
            <a:endParaRPr lang="en-US" dirty="0">
              <a:latin typeface="Courier New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x/14xb </a:t>
            </a:r>
            <a:r>
              <a:rPr lang="en-US" b="1" dirty="0" err="1">
                <a:latin typeface="Courier New" pitchFamily="49" charset="0"/>
              </a:rPr>
              <a:t>sumstore</a:t>
            </a:r>
            <a:endParaRPr lang="en-US" b="1" dirty="0">
              <a:latin typeface="Courier New" pitchFamily="49" charset="0"/>
            </a:endParaRPr>
          </a:p>
          <a:p>
            <a:pPr lvl="1"/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04800" y="1075660"/>
            <a:ext cx="1828800" cy="5091814"/>
            <a:chOff x="304800" y="1075660"/>
            <a:chExt cx="1828800" cy="5091814"/>
          </a:xfrm>
        </p:grpSpPr>
        <p:sp>
          <p:nvSpPr>
            <p:cNvPr id="154630" name="Rectangle 6"/>
            <p:cNvSpPr>
              <a:spLocks noChangeArrowheads="1"/>
            </p:cNvSpPr>
            <p:nvPr/>
          </p:nvSpPr>
          <p:spPr bwMode="auto">
            <a:xfrm>
              <a:off x="400050" y="1075660"/>
              <a:ext cx="1308100" cy="7620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7" tIns="44450" rIns="90487" bIns="44450"/>
            <a:lstStyle/>
            <a:p>
              <a:pPr marL="223838" indent="-223838" algn="ctr" defTabSz="895350">
                <a:spcBef>
                  <a:spcPct val="30000"/>
                </a:spcBef>
              </a:pPr>
              <a:r>
                <a:rPr lang="en-US" dirty="0">
                  <a:solidFill>
                    <a:schemeClr val="tx2"/>
                  </a:solidFill>
                  <a:latin typeface="Calibri" pitchFamily="34" charset="0"/>
                </a:rPr>
                <a:t>   Object</a:t>
              </a:r>
              <a:br>
                <a:rPr lang="en-US" dirty="0">
                  <a:solidFill>
                    <a:schemeClr val="tx2"/>
                  </a:solidFill>
                  <a:latin typeface="Calibri" pitchFamily="34" charset="0"/>
                </a:rPr>
              </a:br>
              <a:r>
                <a:rPr lang="en-US" sz="2400" dirty="0">
                  <a:solidFill>
                    <a:schemeClr val="tx2"/>
                  </a:solidFill>
                  <a:latin typeface="Calibri" pitchFamily="34" charset="0"/>
                </a:rPr>
                <a:t>Code</a:t>
              </a:r>
            </a:p>
            <a:p>
              <a:pPr marL="223838" indent="-223838" defTabSz="895350">
                <a:lnSpc>
                  <a:spcPct val="100000"/>
                </a:lnSpc>
              </a:pPr>
              <a:endParaRPr lang="en-US" sz="2400" dirty="0">
                <a:solidFill>
                  <a:schemeClr val="tx2"/>
                </a:solidFill>
                <a:latin typeface="Calibri" pitchFamily="34" charset="0"/>
              </a:endParaRPr>
            </a:p>
          </p:txBody>
        </p:sp>
        <p:sp>
          <p:nvSpPr>
            <p:cNvPr id="154631" name="Rectangle 7"/>
            <p:cNvSpPr>
              <a:spLocks noChangeArrowheads="1"/>
            </p:cNvSpPr>
            <p:nvPr/>
          </p:nvSpPr>
          <p:spPr bwMode="auto">
            <a:xfrm>
              <a:off x="304800" y="1922721"/>
              <a:ext cx="1828800" cy="42447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0x0400595: 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0x53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0x48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0x89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0xd3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0xe8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0xf2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0xff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0xff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0xff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0x48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0x89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0x03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0x5b</a:t>
              </a:r>
            </a:p>
            <a:p>
              <a:pPr algn="l">
                <a:lnSpc>
                  <a:spcPct val="100000"/>
                </a:lnSpc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 0xc3</a:t>
              </a:r>
            </a:p>
          </p:txBody>
        </p:sp>
      </p:grp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2"/>
            <a:ext cx="7150100" cy="573088"/>
          </a:xfrm>
        </p:spPr>
        <p:txBody>
          <a:bodyPr/>
          <a:lstStyle/>
          <a:p>
            <a:r>
              <a:rPr lang="en-US"/>
              <a:t>What Can be Disassembled?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551488"/>
            <a:ext cx="8624887" cy="1306512"/>
          </a:xfrm>
        </p:spPr>
        <p:txBody>
          <a:bodyPr/>
          <a:lstStyle/>
          <a:p>
            <a:r>
              <a:rPr lang="en-US" dirty="0"/>
              <a:t>Anything that can be interpreted as executable code</a:t>
            </a:r>
          </a:p>
          <a:p>
            <a:r>
              <a:rPr lang="en-US" dirty="0" err="1"/>
              <a:t>Disassembler</a:t>
            </a:r>
            <a:r>
              <a:rPr lang="en-US" dirty="0"/>
              <a:t> examines bytes and reconstructs assembly source</a:t>
            </a:r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533400" y="1585912"/>
            <a:ext cx="8153400" cy="367188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% </a:t>
            </a:r>
            <a:r>
              <a:rPr lang="en-US" sz="1800" dirty="0" err="1">
                <a:latin typeface="Courier New" pitchFamily="49" charset="0"/>
              </a:rPr>
              <a:t>objdump</a:t>
            </a:r>
            <a:r>
              <a:rPr lang="en-US" sz="1800" dirty="0">
                <a:latin typeface="Courier New" pitchFamily="49" charset="0"/>
              </a:rPr>
              <a:t> -</a:t>
            </a:r>
            <a:r>
              <a:rPr lang="en-US" sz="1800" dirty="0" err="1">
                <a:latin typeface="Courier New" pitchFamily="49" charset="0"/>
              </a:rPr>
              <a:t>d</a:t>
            </a:r>
            <a:r>
              <a:rPr lang="en-US" sz="1800" dirty="0">
                <a:latin typeface="Courier New" pitchFamily="49" charset="0"/>
              </a:rPr>
              <a:t> WINWORD.EXE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WINWORD.EXE:   file format pei-i386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No symbols in "WINWORD.EXE".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Disassembly of section .text: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30001000 &lt;.text&gt;: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30001000:  55             push   %</a:t>
            </a:r>
            <a:r>
              <a:rPr lang="en-US" sz="1800" dirty="0" err="1">
                <a:latin typeface="Courier New" pitchFamily="49" charset="0"/>
              </a:rPr>
              <a:t>ebp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30001001:  8b </a:t>
            </a:r>
            <a:r>
              <a:rPr lang="en-US" sz="1800" dirty="0" err="1">
                <a:latin typeface="Courier New" pitchFamily="49" charset="0"/>
              </a:rPr>
              <a:t>ec</a:t>
            </a:r>
            <a:r>
              <a:rPr lang="en-US" sz="1800" dirty="0">
                <a:latin typeface="Courier New" pitchFamily="49" charset="0"/>
              </a:rPr>
              <a:t> 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esp,%ebp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30001003:  6a ff          push   $0xffffffff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30001005:  68 90 10 00 30 push   $0x30001090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3000100a:  68 91 dc 4c 30 push   $0x304cdc91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2133600" y="3858425"/>
            <a:ext cx="5334000" cy="1371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Reverse engineering forbidden by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Microsoft End User License Agreement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Programming I: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</a:p>
          <a:p>
            <a:pPr lvl="1"/>
            <a:r>
              <a:rPr lang="en-US" dirty="0"/>
              <a:t>Evolutionary design leads to many quirks and artifacts</a:t>
            </a:r>
          </a:p>
          <a:p>
            <a:r>
              <a:rPr lang="en-US" dirty="0"/>
              <a:t>C, assembly, machine code</a:t>
            </a:r>
          </a:p>
          <a:p>
            <a:pPr lvl="1"/>
            <a:r>
              <a:rPr lang="en-US" dirty="0"/>
              <a:t>New forms of visible state: program counter, registers, ...</a:t>
            </a:r>
          </a:p>
          <a:p>
            <a:pPr lvl="1"/>
            <a:r>
              <a:rPr lang="en-US" dirty="0"/>
              <a:t>Compiler must transform statements, expressions, procedures into low-level instruction sequences</a:t>
            </a:r>
          </a:p>
          <a:p>
            <a:r>
              <a:rPr lang="en-US" dirty="0"/>
              <a:t>Assembly Basics: Registers, operands, move</a:t>
            </a:r>
          </a:p>
          <a:p>
            <a:pPr lvl="1"/>
            <a:r>
              <a:rPr lang="en-US" dirty="0"/>
              <a:t>The x86-64 move instructions cover wide range of data movement forms</a:t>
            </a:r>
          </a:p>
          <a:p>
            <a:r>
              <a:rPr lang="en-US" dirty="0"/>
              <a:t>Arithmetic</a:t>
            </a:r>
          </a:p>
          <a:p>
            <a:pPr lvl="1"/>
            <a:r>
              <a:rPr lang="en-US" dirty="0"/>
              <a:t>C compiler will figure out different instruction combinations to carry out computation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21129</TotalTime>
  <Words>3422</Words>
  <Application>Microsoft Office PowerPoint</Application>
  <PresentationFormat>全屏显示(4:3)</PresentationFormat>
  <Paragraphs>957</Paragraphs>
  <Slides>54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75" baseType="lpstr">
      <vt:lpstr>Courier</vt:lpstr>
      <vt:lpstr>Lucida Grande</vt:lpstr>
      <vt:lpstr>Monaco</vt:lpstr>
      <vt:lpstr>ＭＳ Ｐゴシック</vt:lpstr>
      <vt:lpstr>ヒラギノ角ゴ ProN W3</vt:lpstr>
      <vt:lpstr>ヒラギノ角ゴ ProN W6</vt:lpstr>
      <vt:lpstr>宋体</vt:lpstr>
      <vt:lpstr>Arial</vt:lpstr>
      <vt:lpstr>Arial Narrow</vt:lpstr>
      <vt:lpstr>Calibri</vt:lpstr>
      <vt:lpstr>Calibri Bold</vt:lpstr>
      <vt:lpstr>Calibri Bold Italic</vt:lpstr>
      <vt:lpstr>Calibri Italic</vt:lpstr>
      <vt:lpstr>Courier New</vt:lpstr>
      <vt:lpstr>Courier New Bold</vt:lpstr>
      <vt:lpstr>Symbol</vt:lpstr>
      <vt:lpstr>Times New Roman</vt:lpstr>
      <vt:lpstr>Wingdings</vt:lpstr>
      <vt:lpstr>Wingdings 2</vt:lpstr>
      <vt:lpstr>template2007</vt:lpstr>
      <vt:lpstr>Title Slide</vt:lpstr>
      <vt:lpstr>PowerPoint 演示文稿</vt:lpstr>
      <vt:lpstr>Machine-Level Programming I: Basics  15-213/18-213/15-213: Introduction to Computer Systems  5th Lecture, September 12, 2017</vt:lpstr>
      <vt:lpstr>Today: Machine Programming I: Basics</vt:lpstr>
      <vt:lpstr>Intel x86 Processors</vt:lpstr>
      <vt:lpstr>Intel x86 Evolution: Milestones</vt:lpstr>
      <vt:lpstr>Intel x86 Processors, cont.</vt:lpstr>
      <vt:lpstr>Intel x86 Processors, cont.</vt:lpstr>
      <vt:lpstr>2017 State of the Art: Skylake</vt:lpstr>
      <vt:lpstr>x86 Clones: Advanced Micro Devices (AMD)</vt:lpstr>
      <vt:lpstr>Intel’s 64-Bit History</vt:lpstr>
      <vt:lpstr>Our Coverage</vt:lpstr>
      <vt:lpstr>Today: Machine Programming I: Basics</vt:lpstr>
      <vt:lpstr>Levels of Abstraction</vt:lpstr>
      <vt:lpstr>Definitions</vt:lpstr>
      <vt:lpstr>Assembly/Machine Code View</vt:lpstr>
      <vt:lpstr>Assembly Characteristics: Data Types</vt:lpstr>
      <vt:lpstr>x86-64 Integer Registers</vt:lpstr>
      <vt:lpstr>Some History: IA32 Registers</vt:lpstr>
      <vt:lpstr>Assembly Characteristics: Operations</vt:lpstr>
      <vt:lpstr>Moving Data</vt:lpstr>
      <vt:lpstr>movq Operand Combinations</vt:lpstr>
      <vt:lpstr>Simple Memory Addressing Modes</vt:lpstr>
      <vt:lpstr>Example of Simple Addressing Modes</vt:lpstr>
      <vt:lpstr>Example of Simple Addressing Modes</vt:lpstr>
      <vt:lpstr>Understanding Swap()</vt:lpstr>
      <vt:lpstr>Understanding Swap()</vt:lpstr>
      <vt:lpstr>Understanding Swap()</vt:lpstr>
      <vt:lpstr>Understanding Swap()</vt:lpstr>
      <vt:lpstr>Understanding Swap()</vt:lpstr>
      <vt:lpstr>Understanding Swap()</vt:lpstr>
      <vt:lpstr>Simple Memory Addressing Modes</vt:lpstr>
      <vt:lpstr>Complete Memory Addressing Modes</vt:lpstr>
      <vt:lpstr>Address Computation Examples</vt:lpstr>
      <vt:lpstr>Address Computation Examples</vt:lpstr>
      <vt:lpstr>Today: Machine Programming I: Basics</vt:lpstr>
      <vt:lpstr>Address Computation Instruction</vt:lpstr>
      <vt:lpstr>Some Arithmetic Operations</vt:lpstr>
      <vt:lpstr>Some Arithmetic Operations</vt:lpstr>
      <vt:lpstr>Arithmetic Expression Example</vt:lpstr>
      <vt:lpstr>Understanding Arithmetic Expression Example</vt:lpstr>
      <vt:lpstr>Today: Machine Programming I: Basics</vt:lpstr>
      <vt:lpstr>Turning C into Object Code</vt:lpstr>
      <vt:lpstr>Compiling Into Assembly</vt:lpstr>
      <vt:lpstr>What it really looks like</vt:lpstr>
      <vt:lpstr>What it really looks like</vt:lpstr>
      <vt:lpstr>Assembly Characteristics: Data Types</vt:lpstr>
      <vt:lpstr>Assembly Characteristics: Operations</vt:lpstr>
      <vt:lpstr>Object Code</vt:lpstr>
      <vt:lpstr>Machine Instruction Example</vt:lpstr>
      <vt:lpstr>Disassembling Object Code</vt:lpstr>
      <vt:lpstr>Alternate Disassembly</vt:lpstr>
      <vt:lpstr>Alternate Disassembly</vt:lpstr>
      <vt:lpstr>What Can be Disassembled?</vt:lpstr>
      <vt:lpstr>Machine Programming I: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Introduction to Computer Systems 15-213/18-213</dc:title>
  <dc:subject/>
  <dc:creator>Markus Pueschel</dc:creator>
  <cp:keywords/>
  <dc:description/>
  <cp:lastModifiedBy>zhou feng</cp:lastModifiedBy>
  <cp:revision>717</cp:revision>
  <cp:lastPrinted>2011-09-12T20:37:42Z</cp:lastPrinted>
  <dcterms:created xsi:type="dcterms:W3CDTF">2012-09-11T15:51:41Z</dcterms:created>
  <dcterms:modified xsi:type="dcterms:W3CDTF">2018-07-22T08:43:32Z</dcterms:modified>
  <cp:category/>
</cp:coreProperties>
</file>